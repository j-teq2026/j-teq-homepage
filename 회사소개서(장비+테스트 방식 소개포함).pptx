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75" r:id="rId3"/>
    <p:sldId id="276" r:id="rId4"/>
    <p:sldId id="293" r:id="rId5"/>
    <p:sldId id="313" r:id="rId6"/>
    <p:sldId id="294" r:id="rId7"/>
    <p:sldId id="309" r:id="rId8"/>
    <p:sldId id="258" r:id="rId9"/>
    <p:sldId id="295" r:id="rId10"/>
    <p:sldId id="296" r:id="rId11"/>
    <p:sldId id="277" r:id="rId12"/>
    <p:sldId id="297" r:id="rId13"/>
    <p:sldId id="298" r:id="rId14"/>
    <p:sldId id="299" r:id="rId15"/>
    <p:sldId id="312" r:id="rId16"/>
    <p:sldId id="310" r:id="rId17"/>
    <p:sldId id="300" r:id="rId18"/>
    <p:sldId id="301" r:id="rId19"/>
    <p:sldId id="302" r:id="rId20"/>
    <p:sldId id="303" r:id="rId21"/>
    <p:sldId id="304" r:id="rId22"/>
    <p:sldId id="305" r:id="rId23"/>
    <p:sldId id="307" r:id="rId24"/>
  </p:sldIdLst>
  <p:sldSz cx="9906000" cy="6858000" type="A4"/>
  <p:notesSz cx="10018713" cy="6888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343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86" d="100"/>
          <a:sy n="86" d="100"/>
        </p:scale>
        <p:origin x="11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951C-EEA7-4D8B-9B35-89ECD320EA92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775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C0D7-F150-42CF-B596-5C8A23AD2C2F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240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C1C41-ADCB-4E67-AF4A-C89C368AB673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503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3E8D4-8D2B-40D4-814A-6DAA96E9237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676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335C-C2A0-4765-A0F3-94753399BB0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189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6EEF8-C2F8-4708-A252-5B54A1F93F23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882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BB959-418A-4688-BB94-77D1311DD754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991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B31A2-200C-4F7D-ADF1-E699EF6521E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048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9E85-0B6F-4D0D-8D36-61A57DF0063E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59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7ED6-AF5B-4F73-9555-F078874004DF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344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18B9E-AF81-4FF5-99AA-09622C6B0F37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616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28DD1-C7FC-43AA-AA9F-1E435AE1FA4F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915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ncinnati-test.com/helium-leak.ph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008907"/>
            <a:ext cx="9906000" cy="1060053"/>
          </a:xfrm>
        </p:spPr>
        <p:txBody>
          <a:bodyPr anchor="ctr" anchorCtr="0">
            <a:normAutofit/>
          </a:bodyPr>
          <a:lstStyle/>
          <a:p>
            <a:r>
              <a:rPr lang="en-US" altLang="ko-KR" sz="5400" b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JSTI(</a:t>
            </a:r>
            <a:r>
              <a:rPr lang="ko-KR" altLang="en-US" sz="5400" b="1" dirty="0" err="1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제이에스티아이</a:t>
            </a:r>
            <a:r>
              <a:rPr lang="en-US" altLang="ko-KR" sz="5400" b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8250" y="2996952"/>
            <a:ext cx="7429500" cy="504056"/>
          </a:xfrm>
        </p:spPr>
        <p:txBody>
          <a:bodyPr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2800" dirty="0">
                <a:ln>
                  <a:solidFill>
                    <a:schemeClr val="accent1"/>
                  </a:solidFill>
                </a:ln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Leak Test Professional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D59B9F-B94B-4690-B255-FE5907201993}"/>
              </a:ext>
            </a:extLst>
          </p:cNvPr>
          <p:cNvSpPr/>
          <p:nvPr/>
        </p:nvSpPr>
        <p:spPr>
          <a:xfrm>
            <a:off x="7401272" y="5733257"/>
            <a:ext cx="2232248" cy="592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Tel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070-8600-0501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B84EC1-517D-45A5-B766-61186E1F00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128" y="5733256"/>
            <a:ext cx="1323106" cy="592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2048" y="2008907"/>
            <a:ext cx="5169024" cy="1060053"/>
          </a:xfrm>
        </p:spPr>
        <p:txBody>
          <a:bodyPr anchor="ctr" anchorCtr="0">
            <a:normAutofit/>
          </a:bodyPr>
          <a:lstStyle/>
          <a:p>
            <a:pPr algn="l"/>
            <a:r>
              <a:rPr lang="ko-KR" altLang="en-US" sz="5400" b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주요 고객 현황</a:t>
            </a:r>
            <a:endParaRPr lang="en-US" altLang="ko-KR" sz="5400" b="1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AutoShape 10"/>
          <p:cNvSpPr>
            <a:spLocks/>
          </p:cNvSpPr>
          <p:nvPr/>
        </p:nvSpPr>
        <p:spPr bwMode="auto">
          <a:xfrm>
            <a:off x="417512" y="836712"/>
            <a:ext cx="1600200" cy="1449288"/>
          </a:xfrm>
          <a:prstGeom prst="accentCallout1">
            <a:avLst>
              <a:gd name="adj1" fmla="val 6819"/>
              <a:gd name="adj2" fmla="val 104764"/>
              <a:gd name="adj3" fmla="val 138462"/>
              <a:gd name="adj4" fmla="val 298005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Steering</a:t>
            </a:r>
            <a:r>
              <a:rPr kumimoji="0" lang="en-US" altLang="ko-KR" sz="1400" u="sng" dirty="0">
                <a:latin typeface="Arial" pitchFamily="34" charset="0"/>
                <a:ea typeface="굴림" pitchFamily="50" charset="-127"/>
              </a:rPr>
              <a:t> System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Delphi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TRW Automotive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Visteon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ZF Friedrichshafen 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Koyo Seiko Co</a:t>
            </a: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Dayco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NSK 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Showa</a:t>
            </a:r>
          </a:p>
          <a:p>
            <a:pPr latinLnBrk="0">
              <a:buFontTx/>
              <a:buChar char="•"/>
              <a:defRPr/>
            </a:pPr>
            <a:endParaRPr kumimoji="0" lang="en-US" altLang="ko-KR" sz="1000" dirty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433048" cy="491453"/>
          </a:xfrm>
        </p:spPr>
        <p:txBody>
          <a:bodyPr>
            <a:normAutofit fontScale="90000"/>
          </a:bodyPr>
          <a:lstStyle/>
          <a:p>
            <a:pPr algn="ctr" latinLnBrk="0"/>
            <a:r>
              <a:rPr lang="ko-KR" altLang="en-US" sz="4000" dirty="0">
                <a:solidFill>
                  <a:schemeClr val="bg1"/>
                </a:solidFill>
                <a:latin typeface="+mn-ea"/>
              </a:rPr>
              <a:t>분야별 </a:t>
            </a:r>
            <a:r>
              <a:rPr lang="en-US" altLang="ko-KR" sz="4000" dirty="0">
                <a:solidFill>
                  <a:schemeClr val="bg1"/>
                </a:solidFill>
                <a:latin typeface="+mn-ea"/>
              </a:rPr>
              <a:t>Top10</a:t>
            </a:r>
            <a:r>
              <a:rPr lang="ko-KR" altLang="en-US" sz="4000" dirty="0">
                <a:solidFill>
                  <a:schemeClr val="bg1"/>
                </a:solidFill>
                <a:latin typeface="+mn-ea"/>
              </a:rPr>
              <a:t> 고객사 현황</a:t>
            </a:r>
            <a:r>
              <a:rPr lang="en-US" altLang="ko-KR" sz="4000" dirty="0">
                <a:solidFill>
                  <a:schemeClr val="bg1"/>
                </a:solidFill>
                <a:latin typeface="+mn-ea"/>
              </a:rPr>
              <a:t>(CTS</a:t>
            </a:r>
            <a:r>
              <a:rPr lang="ko-KR" altLang="en-US" sz="4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+mn-ea"/>
              </a:rPr>
              <a:t>Global)</a:t>
            </a:r>
          </a:p>
        </p:txBody>
      </p:sp>
      <p:pic>
        <p:nvPicPr>
          <p:cNvPr id="68" name="Picture 2" descr="Cutawa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5662" y="1295400"/>
            <a:ext cx="5729288" cy="4294188"/>
          </a:xfrm>
          <a:prstGeom prst="rect">
            <a:avLst/>
          </a:prstGeom>
          <a:noFill/>
          <a:ln w="9525">
            <a:solidFill>
              <a:srgbClr val="DDDDDD"/>
            </a:solidFill>
            <a:miter lim="800000"/>
            <a:headEnd/>
            <a:tailEnd/>
          </a:ln>
        </p:spPr>
      </p:pic>
      <p:sp>
        <p:nvSpPr>
          <p:cNvPr id="69" name="AutoShape 4"/>
          <p:cNvSpPr>
            <a:spLocks/>
          </p:cNvSpPr>
          <p:nvPr/>
        </p:nvSpPr>
        <p:spPr bwMode="auto">
          <a:xfrm>
            <a:off x="417512" y="5589240"/>
            <a:ext cx="1600200" cy="1181100"/>
          </a:xfrm>
          <a:prstGeom prst="accentCallout2">
            <a:avLst>
              <a:gd name="adj1" fmla="val 9676"/>
              <a:gd name="adj2" fmla="val 104764"/>
              <a:gd name="adj3" fmla="val -24342"/>
              <a:gd name="adj4" fmla="val 131304"/>
              <a:gd name="adj5" fmla="val -113843"/>
              <a:gd name="adj6" fmla="val 201190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000" u="sng" dirty="0">
                <a:latin typeface="Arial" pitchFamily="34" charset="0"/>
                <a:ea typeface="굴림" pitchFamily="50" charset="-127"/>
              </a:rPr>
              <a:t>Exterior </a:t>
            </a: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Lighting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Delphi / Guide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StanleyElectric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Federal Mogul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Visteon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Valeo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Hella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70" name="AutoShape 5"/>
          <p:cNvSpPr>
            <a:spLocks/>
          </p:cNvSpPr>
          <p:nvPr/>
        </p:nvSpPr>
        <p:spPr bwMode="auto">
          <a:xfrm>
            <a:off x="7961312" y="914400"/>
            <a:ext cx="1600200" cy="1447800"/>
          </a:xfrm>
          <a:prstGeom prst="accentCallout1">
            <a:avLst>
              <a:gd name="adj1" fmla="val 7894"/>
              <a:gd name="adj2" fmla="val -4764"/>
              <a:gd name="adj3" fmla="val 118421"/>
              <a:gd name="adj4" fmla="val -61903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Fuel Tanks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Inergy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ABC Group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Plastic </a:t>
            </a: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Omnium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Vitec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TI Automotive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Kautex Textron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Visteon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 err="1">
                <a:latin typeface="Arial" pitchFamily="34" charset="0"/>
                <a:ea typeface="굴림" pitchFamily="50" charset="-127"/>
              </a:rPr>
              <a:t>Ergom</a:t>
            </a:r>
            <a:endParaRPr kumimoji="0" lang="en-US" altLang="ko-KR" sz="1000" dirty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71" name="AutoShape 6"/>
          <p:cNvSpPr>
            <a:spLocks/>
          </p:cNvSpPr>
          <p:nvPr/>
        </p:nvSpPr>
        <p:spPr bwMode="auto">
          <a:xfrm>
            <a:off x="417512" y="2362200"/>
            <a:ext cx="1600200" cy="1600200"/>
          </a:xfrm>
          <a:prstGeom prst="accentCallout1">
            <a:avLst>
              <a:gd name="adj1" fmla="val 8333"/>
              <a:gd name="adj2" fmla="val 104764"/>
              <a:gd name="adj3" fmla="val 67625"/>
              <a:gd name="adj4" fmla="val 172338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/>
            <a:r>
              <a:rPr kumimoji="0" lang="en-US" altLang="ko-KR" sz="1400" b="1" u="sng"/>
              <a:t>Heating &amp; Cooling </a:t>
            </a:r>
            <a:r>
              <a:rPr kumimoji="0" lang="en-US" altLang="ko-KR" sz="1000" u="sng"/>
              <a:t>Sys.</a:t>
            </a:r>
          </a:p>
          <a:p>
            <a:pPr latinLnBrk="0">
              <a:buFontTx/>
              <a:buChar char="•"/>
            </a:pPr>
            <a:r>
              <a:rPr kumimoji="0" lang="en-US" altLang="ko-KR" sz="1000" b="1"/>
              <a:t>Delphi</a:t>
            </a:r>
          </a:p>
          <a:p>
            <a:pPr latinLnBrk="0">
              <a:buFontTx/>
              <a:buChar char="•"/>
            </a:pPr>
            <a:r>
              <a:rPr kumimoji="0" lang="en-US" altLang="ko-KR" sz="1000" b="1"/>
              <a:t>Halla Climate Control</a:t>
            </a:r>
          </a:p>
          <a:p>
            <a:pPr latinLnBrk="0">
              <a:buFontTx/>
              <a:buChar char="•"/>
            </a:pPr>
            <a:r>
              <a:rPr kumimoji="0" lang="en-US" altLang="ko-KR" sz="1000" b="1"/>
              <a:t>Calsonic Kansai</a:t>
            </a:r>
          </a:p>
          <a:p>
            <a:pPr latinLnBrk="0">
              <a:buFontTx/>
              <a:buChar char="•"/>
            </a:pPr>
            <a:r>
              <a:rPr kumimoji="0" lang="en-US" altLang="ko-KR" sz="1000" b="1"/>
              <a:t>Behr Heat Transfer</a:t>
            </a:r>
          </a:p>
          <a:p>
            <a:pPr latinLnBrk="0">
              <a:buFontTx/>
              <a:buChar char="•"/>
            </a:pPr>
            <a:r>
              <a:rPr kumimoji="0" lang="en-US" altLang="ko-KR" sz="1000" b="1"/>
              <a:t>TI Automotive</a:t>
            </a:r>
          </a:p>
          <a:p>
            <a:pPr latinLnBrk="0">
              <a:buFontTx/>
              <a:buChar char="•"/>
            </a:pPr>
            <a:r>
              <a:rPr kumimoji="0" lang="en-US" altLang="ko-KR" sz="1000"/>
              <a:t>Sanden Corp.</a:t>
            </a:r>
          </a:p>
          <a:p>
            <a:pPr latinLnBrk="0">
              <a:buFontTx/>
              <a:buChar char="•"/>
            </a:pPr>
            <a:r>
              <a:rPr kumimoji="0" lang="en-US" altLang="ko-KR" sz="1000" b="1"/>
              <a:t>Valeo</a:t>
            </a:r>
          </a:p>
          <a:p>
            <a:pPr latinLnBrk="0">
              <a:buFontTx/>
              <a:buChar char="•"/>
            </a:pPr>
            <a:endParaRPr kumimoji="0" lang="en-US" altLang="ko-KR" sz="1000"/>
          </a:p>
          <a:p>
            <a:pPr latinLnBrk="0">
              <a:buFontTx/>
              <a:buChar char="•"/>
            </a:pPr>
            <a:endParaRPr kumimoji="0" lang="en-US" altLang="ko-KR" sz="1000"/>
          </a:p>
        </p:txBody>
      </p:sp>
      <p:sp>
        <p:nvSpPr>
          <p:cNvPr id="72" name="AutoShape 7"/>
          <p:cNvSpPr>
            <a:spLocks/>
          </p:cNvSpPr>
          <p:nvPr/>
        </p:nvSpPr>
        <p:spPr bwMode="auto">
          <a:xfrm>
            <a:off x="7961312" y="3962400"/>
            <a:ext cx="1600200" cy="1600200"/>
          </a:xfrm>
          <a:prstGeom prst="accentCallout1">
            <a:avLst>
              <a:gd name="adj1" fmla="val 7144"/>
              <a:gd name="adj2" fmla="val -4764"/>
              <a:gd name="adj3" fmla="val -63792"/>
              <a:gd name="adj4" fmla="val -47620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Brakes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TRW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Delphi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Bosch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ITT Automotive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Continental AG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Hayes Lemmerz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Akebono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PBR International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 err="1">
                <a:latin typeface="Arial" pitchFamily="34" charset="0"/>
                <a:ea typeface="굴림" pitchFamily="50" charset="-127"/>
              </a:rPr>
              <a:t>Ambrake</a:t>
            </a:r>
            <a:endParaRPr kumimoji="0" lang="en-US" altLang="ko-KR" sz="1000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endParaRPr kumimoji="0" lang="en-US" altLang="ko-KR" sz="1000" dirty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73" name="AutoShape 8"/>
          <p:cNvSpPr>
            <a:spLocks/>
          </p:cNvSpPr>
          <p:nvPr/>
        </p:nvSpPr>
        <p:spPr bwMode="auto">
          <a:xfrm>
            <a:off x="7961312" y="2438400"/>
            <a:ext cx="1600200" cy="1447800"/>
          </a:xfrm>
          <a:prstGeom prst="accentCallout1">
            <a:avLst>
              <a:gd name="adj1" fmla="val 7894"/>
              <a:gd name="adj2" fmla="val -4764"/>
              <a:gd name="adj3" fmla="val 28727"/>
              <a:gd name="adj4" fmla="val -147620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Airbags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Autoliv</a:t>
            </a: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 Inc.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Takata</a:t>
            </a: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 Corp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Tokai Rika Co. (TRAM)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Key Safety Sys </a:t>
            </a: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(Breed</a:t>
            </a: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)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Daicel Safety Systems</a:t>
            </a:r>
            <a:endParaRPr kumimoji="0" lang="en-US" altLang="ko-KR" sz="1000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TRW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Continental </a:t>
            </a: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Teves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ARC Auto</a:t>
            </a: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 </a:t>
            </a: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(BAICO)</a:t>
            </a:r>
          </a:p>
        </p:txBody>
      </p:sp>
      <p:sp>
        <p:nvSpPr>
          <p:cNvPr id="74" name="AutoShape 9"/>
          <p:cNvSpPr>
            <a:spLocks/>
          </p:cNvSpPr>
          <p:nvPr/>
        </p:nvSpPr>
        <p:spPr bwMode="auto">
          <a:xfrm>
            <a:off x="7275512" y="5627340"/>
            <a:ext cx="2286000" cy="1143000"/>
          </a:xfrm>
          <a:prstGeom prst="accentCallout1">
            <a:avLst>
              <a:gd name="adj1" fmla="val 10000"/>
              <a:gd name="adj2" fmla="val -3333"/>
              <a:gd name="adj3" fmla="val -193333"/>
              <a:gd name="adj4" fmla="val -100000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Transmission</a:t>
            </a:r>
            <a:r>
              <a:rPr kumimoji="0" lang="en-US" altLang="ko-KR" sz="1000" u="sng" dirty="0">
                <a:latin typeface="Arial" pitchFamily="34" charset="0"/>
                <a:ea typeface="굴림" pitchFamily="50" charset="-127"/>
              </a:rPr>
              <a:t> &amp; Drive Train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dirty="0" err="1">
                <a:latin typeface="Arial" pitchFamily="34" charset="0"/>
                <a:ea typeface="굴림" pitchFamily="50" charset="-127"/>
              </a:rPr>
              <a:t>Thyssenkrupp</a:t>
            </a: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 Automotive AG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Metaldyne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Hayes Lemmerz International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ZF Friedrichshafen AG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J.L. French Automotive Castings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Dana Corp</a:t>
            </a:r>
          </a:p>
        </p:txBody>
      </p:sp>
      <p:sp>
        <p:nvSpPr>
          <p:cNvPr id="76" name="AutoShape 11"/>
          <p:cNvSpPr>
            <a:spLocks/>
          </p:cNvSpPr>
          <p:nvPr/>
        </p:nvSpPr>
        <p:spPr bwMode="auto">
          <a:xfrm>
            <a:off x="417512" y="4038600"/>
            <a:ext cx="1600200" cy="1562100"/>
          </a:xfrm>
          <a:prstGeom prst="accentCallout1">
            <a:avLst>
              <a:gd name="adj1" fmla="val 8106"/>
              <a:gd name="adj2" fmla="val 104764"/>
              <a:gd name="adj3" fmla="val -59458"/>
              <a:gd name="adj4" fmla="val 219046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Engine</a:t>
            </a:r>
            <a:r>
              <a:rPr kumimoji="0" lang="en-US" altLang="ko-KR" sz="1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 </a:t>
            </a:r>
            <a:r>
              <a:rPr kumimoji="0" lang="en-US" altLang="ko-KR" sz="1000" u="sng" dirty="0">
                <a:latin typeface="Arial" pitchFamily="34" charset="0"/>
                <a:ea typeface="굴림" pitchFamily="50" charset="-127"/>
              </a:rPr>
              <a:t>Components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Delphi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Magna International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Aisin Seiki Co.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TRW Automotive Inc.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Dana Corp.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Timken Co</a:t>
            </a:r>
            <a:r>
              <a:rPr kumimoji="0" lang="en-US" altLang="ko-KR" sz="1000" dirty="0">
                <a:latin typeface="Arial" pitchFamily="34" charset="0"/>
                <a:ea typeface="굴림" pitchFamily="50" charset="-127"/>
              </a:rPr>
              <a:t>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Nemak</a:t>
            </a: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 SA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Montaplast</a:t>
            </a: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77" name="AutoShape 12"/>
          <p:cNvSpPr>
            <a:spLocks/>
          </p:cNvSpPr>
          <p:nvPr/>
        </p:nvSpPr>
        <p:spPr bwMode="auto">
          <a:xfrm>
            <a:off x="2398712" y="5627340"/>
            <a:ext cx="1905000" cy="1143000"/>
          </a:xfrm>
          <a:prstGeom prst="accentCallout1">
            <a:avLst>
              <a:gd name="adj1" fmla="val 10000"/>
              <a:gd name="adj2" fmla="val 104546"/>
              <a:gd name="adj3" fmla="val -226667"/>
              <a:gd name="adj4" fmla="val 112120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000" u="sng" dirty="0">
                <a:latin typeface="Arial" pitchFamily="34" charset="0"/>
                <a:ea typeface="굴림" pitchFamily="50" charset="-127"/>
              </a:rPr>
              <a:t>Electrical / </a:t>
            </a: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Electronics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Visteon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Delphi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Hitachi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Ford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Molex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ICG</a:t>
            </a:r>
          </a:p>
          <a:p>
            <a:pPr latinLnBrk="0">
              <a:buFontTx/>
              <a:buChar char="•"/>
              <a:defRPr/>
            </a:pPr>
            <a:endParaRPr kumimoji="0" lang="en-US" altLang="ko-KR" sz="1000" b="1" dirty="0">
              <a:latin typeface="Arial" pitchFamily="34" charset="0"/>
              <a:ea typeface="굴림" pitchFamily="50" charset="-127"/>
            </a:endParaRPr>
          </a:p>
          <a:p>
            <a:pPr latinLnBrk="0">
              <a:buFontTx/>
              <a:buChar char="•"/>
              <a:defRPr/>
            </a:pPr>
            <a:endParaRPr kumimoji="0" lang="en-US" altLang="ko-KR" sz="1000" dirty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78" name="AutoShape 13"/>
          <p:cNvSpPr>
            <a:spLocks/>
          </p:cNvSpPr>
          <p:nvPr/>
        </p:nvSpPr>
        <p:spPr bwMode="auto">
          <a:xfrm>
            <a:off x="4837112" y="5627340"/>
            <a:ext cx="2133600" cy="1143000"/>
          </a:xfrm>
          <a:prstGeom prst="accentCallout1">
            <a:avLst>
              <a:gd name="adj1" fmla="val 10000"/>
              <a:gd name="adj2" fmla="val -3847"/>
              <a:gd name="adj3" fmla="val -212083"/>
              <a:gd name="adj4" fmla="val -27614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/>
          <a:lstStyle/>
          <a:p>
            <a:pPr latinLnBrk="0">
              <a:defRPr/>
            </a:pPr>
            <a:r>
              <a:rPr kumimoji="0" lang="en-US" altLang="ko-KR" sz="1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Fuel</a:t>
            </a:r>
            <a:r>
              <a:rPr kumimoji="0" lang="en-US" altLang="ko-KR" sz="1400" b="1" u="sng" dirty="0">
                <a:latin typeface="Arial" pitchFamily="34" charset="0"/>
                <a:ea typeface="굴림" pitchFamily="50" charset="-127"/>
              </a:rPr>
              <a:t> </a:t>
            </a:r>
            <a:r>
              <a:rPr kumimoji="0" lang="en-US" altLang="ko-KR" sz="1000" u="sng" dirty="0">
                <a:latin typeface="Arial" pitchFamily="34" charset="0"/>
                <a:ea typeface="굴림" pitchFamily="50" charset="-127"/>
              </a:rPr>
              <a:t>components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Hitachi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굴림" pitchFamily="50" charset="-127"/>
              </a:rPr>
              <a:t>Bosch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TI Automotive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Visteon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 err="1">
                <a:latin typeface="Arial" pitchFamily="34" charset="0"/>
                <a:ea typeface="굴림" pitchFamily="50" charset="-127"/>
              </a:rPr>
              <a:t>Milllenium</a:t>
            </a: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 Industries Corp.</a:t>
            </a:r>
          </a:p>
          <a:p>
            <a:pPr latinLnBrk="0">
              <a:buFontTx/>
              <a:buChar char="•"/>
              <a:defRPr/>
            </a:pPr>
            <a:r>
              <a:rPr kumimoji="0" lang="en-US" altLang="ko-KR" sz="1000" b="1" dirty="0">
                <a:latin typeface="Arial" pitchFamily="34" charset="0"/>
                <a:ea typeface="굴림" pitchFamily="50" charset="-127"/>
              </a:rPr>
              <a:t>Siemens Automotive</a:t>
            </a:r>
          </a:p>
        </p:txBody>
      </p:sp>
    </p:spTree>
    <p:extLst>
      <p:ext uri="{BB962C8B-B14F-4D97-AF65-F5344CB8AC3E}">
        <p14:creationId xmlns:p14="http://schemas.microsoft.com/office/powerpoint/2010/main" val="16368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국내 주요 사용처 </a:t>
            </a:r>
            <a:r>
              <a:rPr lang="en-US" altLang="ko-KR" sz="4000" dirty="0">
                <a:solidFill>
                  <a:schemeClr val="bg1"/>
                </a:solidFill>
              </a:rPr>
              <a:t>( </a:t>
            </a:r>
            <a:r>
              <a:rPr lang="ko-KR" altLang="en-US" sz="4000" dirty="0">
                <a:solidFill>
                  <a:schemeClr val="bg1"/>
                </a:solidFill>
              </a:rPr>
              <a:t>자동차 </a:t>
            </a:r>
            <a:r>
              <a:rPr lang="en-US" altLang="ko-KR" sz="4000" dirty="0">
                <a:solidFill>
                  <a:schemeClr val="bg1"/>
                </a:solidFill>
              </a:rPr>
              <a:t>)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6" name="내용 개체 틀 8">
            <a:extLst>
              <a:ext uri="{FF2B5EF4-FFF2-40B4-BE49-F238E27FC236}">
                <a16:creationId xmlns:a16="http://schemas.microsoft.com/office/drawing/2014/main" id="{1E78DFAD-3E6F-48A0-80C4-F3D3B1E972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1473604"/>
              </p:ext>
            </p:extLst>
          </p:nvPr>
        </p:nvGraphicFramePr>
        <p:xfrm>
          <a:off x="920552" y="1268760"/>
          <a:ext cx="824902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업체 명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적용 제품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GM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코리아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Engine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Assembly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현대모비스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조향부품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현대케피코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Intake Manifold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Module, Sensor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전장류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Erae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Automotive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공조기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조향기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제동기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전장류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두원 공조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공조기 제품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Condensor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열교환기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Compressor)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BorgWarner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엔진 및 파워트레인용 부품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서한워너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Turbo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Charger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코아비스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연료기 부품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연료 펌프 외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말레동현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Intake Manifold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외 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인지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Cylinder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Head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Cover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Manifold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코렌스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EGR Cooler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화승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R&amp;A, T&amp;C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Air Conditioner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Hose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Brake Hose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 외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endParaRPr lang="ko-KR" altLang="en-US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79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국내 주요 사용처 </a:t>
            </a:r>
            <a:r>
              <a:rPr lang="en-US" altLang="ko-KR" sz="4000" dirty="0">
                <a:solidFill>
                  <a:schemeClr val="bg1"/>
                </a:solidFill>
              </a:rPr>
              <a:t>( </a:t>
            </a:r>
            <a:r>
              <a:rPr lang="ko-KR" altLang="en-US" sz="4000" dirty="0">
                <a:solidFill>
                  <a:schemeClr val="bg1"/>
                </a:solidFill>
              </a:rPr>
              <a:t>자동차 </a:t>
            </a:r>
            <a:r>
              <a:rPr lang="en-US" altLang="ko-KR" sz="4000" dirty="0">
                <a:solidFill>
                  <a:schemeClr val="bg1"/>
                </a:solidFill>
              </a:rPr>
              <a:t>)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6" name="내용 개체 틀 8">
            <a:extLst>
              <a:ext uri="{FF2B5EF4-FFF2-40B4-BE49-F238E27FC236}">
                <a16:creationId xmlns:a16="http://schemas.microsoft.com/office/drawing/2014/main" id="{11AD09B0-5D79-429C-9A72-B49139ABE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840286"/>
              </p:ext>
            </p:extLst>
          </p:nvPr>
        </p:nvGraphicFramePr>
        <p:xfrm>
          <a:off x="920552" y="1268760"/>
          <a:ext cx="824902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업체 명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적용 제품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플라스틱옴니움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구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이너지오토모티브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연료탱크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Head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Lamp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한일튜브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Pipe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Tube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</a:rPr>
                        <a:t>A’ssy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r>
                        <a:rPr lang="en-US" altLang="ko-K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Ti-</a:t>
                      </a:r>
                      <a:r>
                        <a:rPr lang="ko-KR" alt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오토모티브 	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연료기 부품</a:t>
                      </a:r>
                      <a:r>
                        <a:rPr lang="en-US" altLang="ko-K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커넥터 류 	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r>
                        <a:rPr lang="ko-KR" alt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이튼</a:t>
                      </a:r>
                      <a:r>
                        <a:rPr lang="ko-KR" alt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코리아 	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레귤레이터</a:t>
                      </a:r>
                      <a:r>
                        <a:rPr lang="en-US" altLang="ko-K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밸브류</a:t>
                      </a:r>
                      <a:r>
                        <a:rPr lang="ko-KR" alt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삼성발레오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EGR Cooler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무진서비스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자동차 배터리 케이스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우신공업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배기 머플러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배기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매니폴드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LG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전자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전기 자동차용 배터리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삼성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SDI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전기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자동차용 배터리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신흥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SEC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자동차용 배터리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endParaRPr lang="ko-KR" altLang="en-US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236">
                <a:tc>
                  <a:txBody>
                    <a:bodyPr/>
                    <a:lstStyle/>
                    <a:p>
                      <a:endParaRPr lang="ko-KR" altLang="en-US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12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649072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국내 주요 사용처</a:t>
            </a:r>
            <a:r>
              <a:rPr lang="en-US" altLang="ko-KR" sz="4000" dirty="0">
                <a:solidFill>
                  <a:schemeClr val="bg1"/>
                </a:solidFill>
              </a:rPr>
              <a:t>(</a:t>
            </a:r>
            <a:r>
              <a:rPr lang="ko-KR" altLang="en-US" sz="4000" dirty="0">
                <a:solidFill>
                  <a:schemeClr val="bg1"/>
                </a:solidFill>
              </a:rPr>
              <a:t> 전자 및 기타 </a:t>
            </a:r>
            <a:r>
              <a:rPr lang="en-US" altLang="ko-KR" sz="4000" dirty="0">
                <a:solidFill>
                  <a:schemeClr val="bg1"/>
                </a:solidFill>
              </a:rPr>
              <a:t>)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6" name="내용 개체 틀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392713"/>
              </p:ext>
            </p:extLst>
          </p:nvPr>
        </p:nvGraphicFramePr>
        <p:xfrm>
          <a:off x="920552" y="1556792"/>
          <a:ext cx="824902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6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업체 명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적용 제품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삼성전자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하드디스크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중계기 외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화학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LG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전자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전기 자동차용 배터리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삼성냉장고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정수기 필터 류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웅진</a:t>
                      </a: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정수기 필터 류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마이크로필터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정수기 필터 류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한국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3M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89275" marR="189275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정수기 필터 류</a:t>
                      </a:r>
                    </a:p>
                  </a:txBody>
                  <a:tcPr marL="189275" marR="1892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810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2048" y="2008907"/>
            <a:ext cx="5169024" cy="1060053"/>
          </a:xfrm>
        </p:spPr>
        <p:txBody>
          <a:bodyPr anchor="ctr" anchorCtr="0">
            <a:normAutofit/>
          </a:bodyPr>
          <a:lstStyle/>
          <a:p>
            <a:pPr algn="l"/>
            <a:r>
              <a:rPr lang="ko-KR" altLang="en-US" sz="5400" b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장비 소개</a:t>
            </a:r>
            <a:endParaRPr lang="en-US" altLang="ko-KR" sz="5400" b="1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87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Air Leak Tester</a:t>
            </a:r>
            <a:r>
              <a:rPr lang="ko-KR" altLang="en-US" sz="4000" dirty="0">
                <a:solidFill>
                  <a:schemeClr val="bg1"/>
                </a:solidFill>
              </a:rPr>
              <a:t> </a:t>
            </a:r>
            <a:r>
              <a:rPr lang="en-US" altLang="ko-KR" sz="4000" dirty="0">
                <a:solidFill>
                  <a:schemeClr val="bg1"/>
                </a:solidFill>
              </a:rPr>
              <a:t>/ </a:t>
            </a:r>
            <a:r>
              <a:rPr lang="ko-KR" altLang="en-US" sz="4000" dirty="0">
                <a:solidFill>
                  <a:schemeClr val="bg1"/>
                </a:solidFill>
              </a:rPr>
              <a:t>공통 기술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60512" y="2132856"/>
            <a:ext cx="6553200" cy="3556992"/>
          </a:xfrm>
        </p:spPr>
        <p:txBody>
          <a:bodyPr>
            <a:norm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32 Bit Coprocessor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와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+mn-ea"/>
              </a:rPr>
              <a:t>24 Bit A/D </a:t>
            </a:r>
            <a:r>
              <a:rPr lang="ko-KR" altLang="en-US" sz="1600" dirty="0">
                <a:latin typeface="+mn-ea"/>
              </a:rPr>
              <a:t>기술 접목</a:t>
            </a:r>
            <a:endParaRPr lang="en-US" sz="1600" dirty="0">
              <a:latin typeface="+mn-ea"/>
            </a:endParaRPr>
          </a:p>
          <a:p>
            <a:pPr lvl="1"/>
            <a:r>
              <a:rPr lang="ko-KR" altLang="en-US" sz="1600" dirty="0" err="1">
                <a:latin typeface="+mn-ea"/>
              </a:rPr>
              <a:t>트랜스듀서</a:t>
            </a:r>
            <a:r>
              <a:rPr lang="ko-KR" altLang="en-US" sz="1600" dirty="0">
                <a:latin typeface="+mn-ea"/>
              </a:rPr>
              <a:t> 시그널에 대한 분해능 극대화</a:t>
            </a:r>
            <a:endParaRPr altLang="ko-KR" sz="1600" dirty="0">
              <a:latin typeface="+mn-ea"/>
            </a:endParaRPr>
          </a:p>
          <a:p>
            <a:pPr lvl="1"/>
            <a:r>
              <a:rPr lang="ko-KR" altLang="en-US" sz="1600" dirty="0">
                <a:latin typeface="+mn-ea"/>
              </a:rPr>
              <a:t>시그널 분석 안정성 향상</a:t>
            </a:r>
            <a:endParaRPr lang="en-US" sz="1600" dirty="0">
              <a:latin typeface="+mn-ea"/>
            </a:endParaRPr>
          </a:p>
          <a:p>
            <a:r>
              <a:rPr lang="ko-KR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자동 </a:t>
            </a:r>
            <a:r>
              <a:rPr lang="ko-KR" altLang="en-US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칼리브레이션</a:t>
            </a:r>
            <a:endParaRPr lang="en-US" sz="1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1"/>
            <a:r>
              <a:rPr lang="ko-KR" altLang="en-US" sz="1600" dirty="0">
                <a:latin typeface="+mn-ea"/>
              </a:rPr>
              <a:t>한번의 버튼 조작으로 완료됨</a:t>
            </a:r>
            <a:endParaRPr lang="en-US" sz="1600" dirty="0">
              <a:latin typeface="+mn-ea"/>
            </a:endParaRPr>
          </a:p>
          <a:p>
            <a:pPr lvl="1"/>
            <a:r>
              <a:rPr lang="en-US" sz="1600" dirty="0">
                <a:latin typeface="+mn-ea"/>
              </a:rPr>
              <a:t>Leak </a:t>
            </a:r>
            <a:r>
              <a:rPr lang="ko-KR" altLang="en-US" sz="1600" dirty="0">
                <a:latin typeface="+mn-ea"/>
              </a:rPr>
              <a:t>마스터 내장 </a:t>
            </a:r>
            <a:r>
              <a:rPr lang="en-US" altLang="ko-KR" sz="1600" dirty="0">
                <a:latin typeface="+mn-ea"/>
              </a:rPr>
              <a:t>(ISO17025)</a:t>
            </a:r>
            <a:endParaRPr lang="en-US" sz="1600" dirty="0">
              <a:latin typeface="+mn-ea"/>
            </a:endParaRPr>
          </a:p>
          <a:p>
            <a:r>
              <a:rPr lang="en-US" sz="1600" dirty="0">
                <a:solidFill>
                  <a:srgbClr val="FF0000"/>
                </a:solidFill>
                <a:latin typeface="+mn-ea"/>
              </a:rPr>
              <a:t>Quick Test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</a:rPr>
              <a:t>기능</a:t>
            </a:r>
            <a:endParaRPr lang="en-US" sz="1600" dirty="0">
              <a:solidFill>
                <a:srgbClr val="FF0000"/>
              </a:solidFill>
              <a:latin typeface="+mn-ea"/>
            </a:endParaRPr>
          </a:p>
          <a:p>
            <a:pPr lvl="1"/>
            <a:r>
              <a:rPr lang="ko-KR" altLang="en-US" sz="1600" dirty="0">
                <a:latin typeface="+mn-ea"/>
              </a:rPr>
              <a:t>측정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검출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시간 최대 </a:t>
            </a:r>
            <a:r>
              <a:rPr lang="en-US" altLang="ko-KR" sz="1600" dirty="0">
                <a:latin typeface="+mn-ea"/>
              </a:rPr>
              <a:t>80%</a:t>
            </a:r>
            <a:r>
              <a:rPr lang="ko-KR" altLang="en-US" sz="1600" dirty="0">
                <a:latin typeface="+mn-ea"/>
              </a:rPr>
              <a:t>단축 가능</a:t>
            </a:r>
            <a:endParaRPr lang="en-US" sz="1600" dirty="0">
              <a:latin typeface="+mn-ea"/>
            </a:endParaRPr>
          </a:p>
          <a:p>
            <a:r>
              <a:rPr lang="ko-KR" altLang="en-US" sz="1600" dirty="0">
                <a:solidFill>
                  <a:srgbClr val="FF0000"/>
                </a:solidFill>
                <a:latin typeface="+mn-ea"/>
              </a:rPr>
              <a:t>셀프 테스트 기능</a:t>
            </a:r>
            <a:endParaRPr lang="en-US" sz="1600" dirty="0">
              <a:solidFill>
                <a:srgbClr val="FF0000"/>
              </a:solidFill>
              <a:latin typeface="+mn-ea"/>
            </a:endParaRPr>
          </a:p>
          <a:p>
            <a:pPr lvl="1"/>
            <a:r>
              <a:rPr lang="ko-KR" altLang="en-US" sz="1600" dirty="0">
                <a:latin typeface="+mn-ea"/>
              </a:rPr>
              <a:t>장치의 이상 여부를 누구나 쉽게 </a:t>
            </a:r>
            <a:endParaRPr lang="en-US" altLang="ko-KR" sz="1600" dirty="0">
              <a:latin typeface="+mn-ea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+mn-ea"/>
              </a:rPr>
              <a:t>   </a:t>
            </a:r>
            <a:r>
              <a:rPr lang="ko-KR" altLang="en-US" sz="1600" dirty="0">
                <a:latin typeface="+mn-ea"/>
              </a:rPr>
              <a:t>점검하실 수 있습니다</a:t>
            </a:r>
            <a:r>
              <a:rPr lang="en-US" altLang="ko-KR" sz="1600" dirty="0">
                <a:latin typeface="+mn-ea"/>
              </a:rPr>
              <a:t>.</a:t>
            </a:r>
            <a:endParaRPr lang="en-US" sz="1600" dirty="0">
              <a:latin typeface="+mn-ea"/>
            </a:endParaRPr>
          </a:p>
        </p:txBody>
      </p:sp>
      <p:pic>
        <p:nvPicPr>
          <p:cNvPr id="12" name="Picture 2" descr="C:\Users\Jay Hong\Pictures\Cincinnati_Sentinel family_pic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008" y="2924944"/>
            <a:ext cx="4323121" cy="2667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Sentinel I-28 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1" name="Picture 2" descr="C:\Users\Jay Hong\Pictures\그림3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21" y="2751842"/>
            <a:ext cx="3660775" cy="271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252131"/>
              </p:ext>
            </p:extLst>
          </p:nvPr>
        </p:nvGraphicFramePr>
        <p:xfrm>
          <a:off x="4088904" y="1124744"/>
          <a:ext cx="5181600" cy="550181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1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291"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  <a:endParaRPr lang="en-US" sz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54393" marR="15439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Capabilities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of Sentinel</a:t>
                      </a:r>
                      <a:r>
                        <a:rPr lang="en-US" sz="1200" baseline="30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I28</a:t>
                      </a:r>
                      <a:endParaRPr lang="en-US" sz="1200" baseline="30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54393" marR="1543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165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Versatility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압력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진공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디케이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– </a:t>
                      </a:r>
                      <a:r>
                        <a:rPr lang="el-GR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Δ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 (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압력손실 값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압력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진공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디케이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–</a:t>
                      </a:r>
                      <a:r>
                        <a:rPr lang="el-GR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Δ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P/</a:t>
                      </a:r>
                      <a:r>
                        <a:rPr lang="el-GR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Δ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T(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시간당 압력손실 값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압력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진공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디케이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– Leak </a:t>
                      </a:r>
                      <a:r>
                        <a:rPr lang="en-US" altLang="ko-KR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Std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교정에 의한 </a:t>
                      </a:r>
                      <a:r>
                        <a:rPr lang="en-US" altLang="ko-KR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sccm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값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차압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디케이</a:t>
                      </a:r>
                      <a:endParaRPr lang="en-US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막힘유무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테스트</a:t>
                      </a:r>
                      <a:endParaRPr lang="en-US" altLang="ko-KR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매스플로우</a:t>
                      </a:r>
                      <a:endParaRPr lang="en-US" altLang="ko-KR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비교식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매스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플로우</a:t>
                      </a:r>
                      <a:endParaRPr lang="en-US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볼륨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감지식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가압</a:t>
                      </a:r>
                      <a:endParaRPr lang="en-US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상위 프로그램 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프로그램을 수행케 함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sz="1050" b="0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전자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레귤레이터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옵션 장착 가능</a:t>
                      </a:r>
                      <a:endParaRPr lang="en-US" sz="1050" b="0" baseline="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797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High Performance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 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비트 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A/D</a:t>
                      </a:r>
                      <a:r>
                        <a:rPr lang="ko-KR" altLang="en-US" sz="1050" b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컨버팅</a:t>
                      </a:r>
                      <a:endParaRPr lang="en-US" altLang="ko-KR" sz="1050" b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 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비트 프로세서 탑재 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특화된 데이터 처리 기능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r>
                        <a:rPr lang="ko-KR" altLang="en-US" sz="1050" b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절대압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압력 트랜스 </a:t>
                      </a:r>
                      <a:r>
                        <a:rPr lang="ko-KR" altLang="en-US" sz="1050" b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듀서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적용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151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Pressure</a:t>
                      </a:r>
                      <a:r>
                        <a:rPr lang="en-US" sz="1200" b="1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Ranges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진공 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~ 500 psig (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약 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34bar)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919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Flexibility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99 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 프로그램</a:t>
                      </a:r>
                      <a:endParaRPr lang="en-US" altLang="ko-KR" sz="1050" b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u="none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언어에 상관없는 </a:t>
                      </a:r>
                      <a:r>
                        <a:rPr lang="ko-KR" altLang="en-US" sz="1050" b="0" u="none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키패드</a:t>
                      </a:r>
                      <a:endParaRPr lang="en-US" altLang="ko-KR" sz="1050" b="0" u="none" baseline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언어 선택</a:t>
                      </a:r>
                      <a:r>
                        <a:rPr lang="en-US" altLang="ko-KR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한글</a:t>
                      </a:r>
                      <a:r>
                        <a:rPr lang="en-US" altLang="ko-KR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영어</a:t>
                      </a:r>
                      <a:r>
                        <a:rPr lang="en-US" altLang="ko-KR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중문</a:t>
                      </a:r>
                      <a:r>
                        <a:rPr lang="en-US" altLang="ko-KR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스페인어</a:t>
                      </a:r>
                      <a:r>
                        <a:rPr lang="en-US" altLang="ko-KR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lang="ko-KR" altLang="en-US" sz="1050" b="0" u="sng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요청시</a:t>
                      </a:r>
                      <a:r>
                        <a:rPr lang="ko-KR" altLang="en-US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다른 언어가능</a:t>
                      </a:r>
                      <a:r>
                        <a:rPr lang="en-US" altLang="ko-KR" sz="1050" b="0" u="sng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sz="1050" b="0" u="sng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797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Simplicity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Autosetup</a:t>
                      </a:r>
                    </a:p>
                    <a:p>
                      <a:r>
                        <a:rPr 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Auto</a:t>
                      </a:r>
                      <a:r>
                        <a:rPr 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Calibration</a:t>
                      </a:r>
                    </a:p>
                    <a:p>
                      <a:r>
                        <a:rPr 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Self Test Diagnostics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041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RS232</a:t>
                      </a:r>
                    </a:p>
                    <a:p>
                      <a:r>
                        <a:rPr 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Ethernet</a:t>
                      </a:r>
                    </a:p>
                    <a:p>
                      <a:r>
                        <a:rPr 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Email</a:t>
                      </a:r>
                      <a:r>
                        <a:rPr 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Notifications</a:t>
                      </a:r>
                    </a:p>
                    <a:p>
                      <a:r>
                        <a:rPr 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 Inputs/12 Outputs for PLC Integration</a:t>
                      </a:r>
                    </a:p>
                    <a:p>
                      <a:r>
                        <a:rPr 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USB (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 저장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백업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복구</a:t>
                      </a:r>
                      <a:r>
                        <a:rPr 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151"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Display Resolution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선명하고 명확한 </a:t>
                      </a:r>
                      <a:r>
                        <a:rPr lang="en-US" altLang="ko-KR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LCD</a:t>
                      </a:r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디스플레이</a:t>
                      </a:r>
                      <a:endParaRPr lang="en-US" altLang="ko-KR" sz="1050" b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r>
                        <a:rPr lang="ko-KR" altLang="en-US" sz="1050" b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막대 그래프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및 </a:t>
                      </a:r>
                      <a:r>
                        <a:rPr lang="ko-KR" altLang="en-US" sz="1050" b="0" baseline="0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확장형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X/Y</a:t>
                      </a:r>
                      <a:r>
                        <a:rPr lang="ko-KR" altLang="en-US" sz="1050" b="0" baseline="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그래프 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54393" marR="15439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itle 3"/>
          <p:cNvSpPr txBox="1">
            <a:spLocks/>
          </p:cNvSpPr>
          <p:nvPr/>
        </p:nvSpPr>
        <p:spPr>
          <a:xfrm>
            <a:off x="934542" y="1419617"/>
            <a:ext cx="2773362" cy="11036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400" b="1" kern="1200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최고의 수행 능력</a:t>
            </a:r>
            <a:r>
              <a:rPr lang="en-US" altLang="ko-KR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!!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최종 솔루션</a:t>
            </a:r>
            <a:r>
              <a:rPr lang="en-US" altLang="ko-KR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!!!</a:t>
            </a:r>
            <a:endParaRPr lang="en-US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531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Sentinel </a:t>
            </a:r>
            <a:r>
              <a:rPr lang="en-US" altLang="ko-KR" sz="4000" dirty="0" err="1">
                <a:solidFill>
                  <a:schemeClr val="bg1"/>
                </a:solidFill>
              </a:rPr>
              <a:t>Blackbelt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632944"/>
              </p:ext>
            </p:extLst>
          </p:nvPr>
        </p:nvGraphicFramePr>
        <p:xfrm>
          <a:off x="3723456" y="1295400"/>
          <a:ext cx="5334000" cy="52368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364"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  <a:endParaRPr lang="en-US" sz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Capabilities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of Sentinel</a:t>
                      </a:r>
                      <a:r>
                        <a:rPr lang="en-US" sz="1200" baseline="30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Blackbelt</a:t>
                      </a:r>
                      <a:endParaRPr lang="en-US" sz="1200" baseline="30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254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Versatility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baseline="0" dirty="0">
                          <a:effectLst/>
                        </a:rPr>
                        <a:t>압력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ko-KR" altLang="en-US" sz="10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000" b="0" baseline="0" dirty="0">
                          <a:effectLst/>
                        </a:rPr>
                        <a:t> – </a:t>
                      </a:r>
                      <a:r>
                        <a:rPr lang="el-GR" altLang="ko-KR" sz="1000" b="0" dirty="0">
                          <a:effectLst/>
                        </a:rPr>
                        <a:t>Δ</a:t>
                      </a:r>
                      <a:r>
                        <a:rPr lang="en-US" altLang="ko-KR" sz="1000" b="0" dirty="0">
                          <a:effectLst/>
                        </a:rPr>
                        <a:t>P (</a:t>
                      </a:r>
                      <a:r>
                        <a:rPr lang="ko-KR" altLang="en-US" sz="1000" b="0" dirty="0">
                          <a:effectLst/>
                        </a:rPr>
                        <a:t>압력손실 값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압력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ko-KR" altLang="en-US" sz="10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000" b="0" baseline="0" dirty="0">
                          <a:effectLst/>
                        </a:rPr>
                        <a:t> –</a:t>
                      </a:r>
                      <a:r>
                        <a:rPr lang="el-GR" altLang="ko-KR" sz="1000" b="0" dirty="0">
                          <a:effectLst/>
                        </a:rPr>
                        <a:t>Δ</a:t>
                      </a:r>
                      <a:r>
                        <a:rPr lang="en-US" altLang="ko-KR" sz="1000" b="0" dirty="0">
                          <a:effectLst/>
                        </a:rPr>
                        <a:t>P/</a:t>
                      </a:r>
                      <a:r>
                        <a:rPr lang="el-GR" altLang="ko-KR" sz="1000" b="0" dirty="0">
                          <a:effectLst/>
                        </a:rPr>
                        <a:t>Δ</a:t>
                      </a:r>
                      <a:r>
                        <a:rPr lang="en-US" altLang="ko-KR" sz="1000" b="0" dirty="0">
                          <a:effectLst/>
                        </a:rPr>
                        <a:t>T(</a:t>
                      </a:r>
                      <a:r>
                        <a:rPr lang="ko-KR" altLang="en-US" sz="1000" b="0" dirty="0">
                          <a:effectLst/>
                        </a:rPr>
                        <a:t>시간당 압력손실 값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압력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ko-KR" altLang="en-US" sz="10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000" b="0" baseline="0" dirty="0">
                          <a:effectLst/>
                        </a:rPr>
                        <a:t> – Leak </a:t>
                      </a:r>
                      <a:r>
                        <a:rPr lang="en-US" altLang="ko-KR" sz="1000" b="0" baseline="0" dirty="0" err="1">
                          <a:effectLst/>
                        </a:rPr>
                        <a:t>Std</a:t>
                      </a:r>
                      <a:r>
                        <a:rPr lang="en-US" altLang="ko-KR" sz="1000" b="0" baseline="0" dirty="0">
                          <a:effectLst/>
                        </a:rPr>
                        <a:t> (</a:t>
                      </a:r>
                      <a:r>
                        <a:rPr lang="ko-KR" altLang="en-US" sz="1000" b="0" baseline="0" dirty="0">
                          <a:effectLst/>
                        </a:rPr>
                        <a:t>교정에 의한 </a:t>
                      </a:r>
                      <a:r>
                        <a:rPr lang="en-US" altLang="ko-KR" sz="1000" b="0" baseline="0" dirty="0" err="1">
                          <a:effectLst/>
                        </a:rPr>
                        <a:t>sccm</a:t>
                      </a:r>
                      <a:r>
                        <a:rPr lang="en-US" altLang="ko-KR" sz="1000" b="0" baseline="0" dirty="0">
                          <a:effectLst/>
                        </a:rPr>
                        <a:t> </a:t>
                      </a:r>
                      <a:r>
                        <a:rPr lang="ko-KR" altLang="en-US" sz="1000" b="0" baseline="0" dirty="0">
                          <a:effectLst/>
                        </a:rPr>
                        <a:t>값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000" b="0" baseline="0" dirty="0" err="1">
                          <a:effectLst/>
                        </a:rPr>
                        <a:t>막힘유무</a:t>
                      </a:r>
                      <a:r>
                        <a:rPr lang="ko-KR" altLang="en-US" sz="1000" b="0" baseline="0" dirty="0">
                          <a:effectLst/>
                        </a:rPr>
                        <a:t> 테스트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 err="1">
                          <a:effectLst/>
                        </a:rPr>
                        <a:t>매스플로우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램프 투 이벤트</a:t>
                      </a:r>
                      <a:r>
                        <a:rPr lang="en-US" altLang="ko-KR" sz="1000" b="0" baseline="0" dirty="0">
                          <a:effectLst/>
                        </a:rPr>
                        <a:t>(</a:t>
                      </a:r>
                      <a:r>
                        <a:rPr lang="ko-KR" altLang="en-US" sz="1000" b="0" baseline="0" dirty="0">
                          <a:effectLst/>
                        </a:rPr>
                        <a:t>변곡점 테스트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  <a:endParaRPr lang="en-US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램프 투 </a:t>
                      </a:r>
                      <a:r>
                        <a:rPr lang="ko-KR" altLang="en-US" sz="1000" b="0" baseline="0" dirty="0" err="1">
                          <a:effectLst/>
                        </a:rPr>
                        <a:t>프루브</a:t>
                      </a:r>
                      <a:r>
                        <a:rPr lang="en-US" altLang="ko-KR" sz="1000" b="0" baseline="0" dirty="0">
                          <a:effectLst/>
                        </a:rPr>
                        <a:t>(</a:t>
                      </a:r>
                      <a:r>
                        <a:rPr lang="ko-KR" altLang="en-US" sz="1000" b="0" baseline="0" dirty="0">
                          <a:effectLst/>
                        </a:rPr>
                        <a:t>압력 유지 테스트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  <a:endParaRPr lang="en-US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순차적 링크 기능</a:t>
                      </a:r>
                      <a:endParaRPr lang="en-US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상위 프로그램 기능</a:t>
                      </a:r>
                      <a:r>
                        <a:rPr lang="en-US" altLang="ko-KR" sz="1000" b="0" baseline="0" dirty="0">
                          <a:effectLst/>
                        </a:rPr>
                        <a:t>(</a:t>
                      </a:r>
                      <a:r>
                        <a:rPr lang="ko-KR" altLang="en-US" sz="1000" b="0" baseline="0" dirty="0">
                          <a:effectLst/>
                        </a:rPr>
                        <a:t>하위 프로그램을 수행케 하는 기능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  <a:endParaRPr lang="en-US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전자 </a:t>
                      </a:r>
                      <a:r>
                        <a:rPr lang="ko-KR" altLang="en-US" sz="1000" b="0" baseline="0" dirty="0" err="1">
                          <a:effectLst/>
                        </a:rPr>
                        <a:t>레귤레이터</a:t>
                      </a:r>
                      <a:r>
                        <a:rPr lang="ko-KR" altLang="en-US" sz="1000" b="0" baseline="0" dirty="0">
                          <a:effectLst/>
                        </a:rPr>
                        <a:t> 옵션 장착 가능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170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High Performance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effectLst/>
                        </a:rPr>
                        <a:t>24 </a:t>
                      </a:r>
                      <a:r>
                        <a:rPr lang="ko-KR" altLang="en-US" sz="1000" b="0" dirty="0">
                          <a:effectLst/>
                        </a:rPr>
                        <a:t>비트 </a:t>
                      </a:r>
                      <a:r>
                        <a:rPr lang="en-US" altLang="ko-KR" sz="1000" b="0" dirty="0">
                          <a:effectLst/>
                        </a:rPr>
                        <a:t>A/D</a:t>
                      </a:r>
                      <a:r>
                        <a:rPr lang="ko-KR" altLang="en-US" sz="1000" b="0" dirty="0" err="1">
                          <a:effectLst/>
                        </a:rPr>
                        <a:t>컨버팅</a:t>
                      </a:r>
                      <a:endParaRPr lang="en-US" altLang="ko-KR" sz="1000" b="0" dirty="0">
                        <a:effectLst/>
                      </a:endParaRPr>
                    </a:p>
                    <a:p>
                      <a:r>
                        <a:rPr lang="en-US" altLang="ko-KR" sz="1000" b="0" dirty="0">
                          <a:effectLst/>
                        </a:rPr>
                        <a:t>32 </a:t>
                      </a:r>
                      <a:r>
                        <a:rPr lang="ko-KR" altLang="en-US" sz="1000" b="0" dirty="0">
                          <a:effectLst/>
                        </a:rPr>
                        <a:t>비트 프로세서 탑재 </a:t>
                      </a: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특화된 데이터 처리 기능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000" b="0" dirty="0" err="1">
                          <a:effectLst/>
                        </a:rPr>
                        <a:t>절대압</a:t>
                      </a:r>
                      <a:r>
                        <a:rPr lang="ko-KR" altLang="en-US" sz="1000" b="0" dirty="0">
                          <a:effectLst/>
                        </a:rPr>
                        <a:t>  압력 트랜스 </a:t>
                      </a:r>
                      <a:r>
                        <a:rPr lang="ko-KR" altLang="en-US" sz="1000" b="0" dirty="0" err="1">
                          <a:effectLst/>
                        </a:rPr>
                        <a:t>듀서</a:t>
                      </a:r>
                      <a:r>
                        <a:rPr lang="ko-KR" altLang="en-US" sz="1000" b="0" dirty="0">
                          <a:effectLst/>
                        </a:rPr>
                        <a:t> 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364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Pressure</a:t>
                      </a:r>
                      <a:r>
                        <a:rPr lang="en-US" sz="1200" b="1" baseline="0" dirty="0">
                          <a:effectLst/>
                        </a:rPr>
                        <a:t> Ranges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en-US" altLang="ko-KR" sz="1000" b="0" baseline="0" dirty="0">
                          <a:effectLst/>
                        </a:rPr>
                        <a:t>~ 500 psig(</a:t>
                      </a:r>
                      <a:r>
                        <a:rPr lang="ko-KR" altLang="en-US" sz="1000" b="0" baseline="0" dirty="0">
                          <a:effectLst/>
                        </a:rPr>
                        <a:t>약 </a:t>
                      </a:r>
                      <a:r>
                        <a:rPr lang="en-US" altLang="ko-KR" sz="1000" b="0" baseline="0" dirty="0">
                          <a:effectLst/>
                        </a:rPr>
                        <a:t>34bar)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374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Flexibility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</a:rPr>
                        <a:t>99 </a:t>
                      </a:r>
                      <a:r>
                        <a:rPr lang="ko-KR" altLang="en-US" sz="1000" b="0" dirty="0">
                          <a:effectLst/>
                        </a:rPr>
                        <a:t>개 프로그램</a:t>
                      </a:r>
                      <a:endParaRPr lang="en-US" altLang="ko-KR" sz="1000" b="0" dirty="0">
                        <a:effectLst/>
                      </a:endParaRPr>
                    </a:p>
                    <a:p>
                      <a:r>
                        <a:rPr lang="ko-KR" altLang="en-US" sz="1000" b="0" u="none" baseline="0" dirty="0">
                          <a:effectLst/>
                        </a:rPr>
                        <a:t>언어에 상관없는 </a:t>
                      </a:r>
                      <a:r>
                        <a:rPr lang="ko-KR" altLang="en-US" sz="1000" b="0" u="none" baseline="0" dirty="0" err="1">
                          <a:effectLst/>
                        </a:rPr>
                        <a:t>키패드</a:t>
                      </a:r>
                      <a:endParaRPr lang="en-US" altLang="ko-KR" sz="1000" b="0" u="none" baseline="0" dirty="0">
                        <a:effectLst/>
                      </a:endParaRPr>
                    </a:p>
                    <a:p>
                      <a:r>
                        <a:rPr lang="ko-KR" altLang="en-US" sz="1000" b="0" u="none" baseline="0" dirty="0">
                          <a:effectLst/>
                        </a:rPr>
                        <a:t>언어 선택</a:t>
                      </a:r>
                      <a:r>
                        <a:rPr lang="en-US" altLang="ko-KR" sz="1000" b="0" u="none" baseline="0" dirty="0">
                          <a:effectLst/>
                        </a:rPr>
                        <a:t>: </a:t>
                      </a:r>
                      <a:r>
                        <a:rPr lang="ko-KR" altLang="en-US" sz="1000" b="0" u="none" baseline="0" dirty="0">
                          <a:effectLst/>
                        </a:rPr>
                        <a:t>한국어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영어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중국어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스페인어</a:t>
                      </a:r>
                      <a:endParaRPr lang="en-US" sz="1000" b="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728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Simplicity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baseline="0" dirty="0">
                          <a:effectLst/>
                        </a:rPr>
                        <a:t>자동 </a:t>
                      </a:r>
                      <a:r>
                        <a:rPr lang="ko-KR" altLang="en-US" sz="1000" b="0" baseline="0" dirty="0" err="1">
                          <a:effectLst/>
                        </a:rPr>
                        <a:t>셋업</a:t>
                      </a:r>
                      <a:r>
                        <a:rPr lang="ko-KR" altLang="en-US" sz="1000" b="0" baseline="0" dirty="0">
                          <a:effectLst/>
                        </a:rPr>
                        <a:t> 기능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자동 </a:t>
                      </a:r>
                      <a:r>
                        <a:rPr lang="ko-KR" altLang="en-US" sz="1000" b="0" baseline="0" dirty="0" err="1">
                          <a:effectLst/>
                        </a:rPr>
                        <a:t>칼리브레이션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dirty="0">
                          <a:effectLst/>
                        </a:rPr>
                        <a:t>자가 진단 모드 제공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668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effectLst/>
                        </a:rPr>
                        <a:t>RS232</a:t>
                      </a:r>
                    </a:p>
                    <a:p>
                      <a:r>
                        <a:rPr lang="en-US" sz="1000" b="0" dirty="0">
                          <a:effectLst/>
                        </a:rPr>
                        <a:t>Ethernet</a:t>
                      </a:r>
                    </a:p>
                    <a:p>
                      <a:r>
                        <a:rPr lang="en-US" sz="1000" b="0" dirty="0">
                          <a:effectLst/>
                        </a:rPr>
                        <a:t>Email</a:t>
                      </a:r>
                      <a:r>
                        <a:rPr lang="en-US" sz="1000" b="0" baseline="0" dirty="0">
                          <a:effectLst/>
                        </a:rPr>
                        <a:t> Notifications</a:t>
                      </a:r>
                    </a:p>
                    <a:p>
                      <a:r>
                        <a:rPr lang="en-US" sz="1000" b="0" baseline="0" dirty="0">
                          <a:effectLst/>
                        </a:rPr>
                        <a:t>6 Inputs/6Outputs for PLC Integration</a:t>
                      </a: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바코드 지원</a:t>
                      </a:r>
                      <a:endParaRPr lang="en-US" sz="1000" b="0" baseline="0" dirty="0">
                        <a:effectLst/>
                      </a:endParaRPr>
                    </a:p>
                    <a:p>
                      <a:r>
                        <a:rPr lang="en-US" sz="1000" b="0" baseline="0" dirty="0">
                          <a:effectLst/>
                        </a:rPr>
                        <a:t>USB (</a:t>
                      </a:r>
                      <a:r>
                        <a:rPr lang="ko-KR" altLang="en-US" sz="1000" b="0" baseline="0" dirty="0">
                          <a:effectLst/>
                        </a:rPr>
                        <a:t>데이터 저장</a:t>
                      </a:r>
                      <a:r>
                        <a:rPr lang="en-US" altLang="ko-KR" sz="1000" b="0" baseline="0" dirty="0">
                          <a:effectLst/>
                        </a:rPr>
                        <a:t>, </a:t>
                      </a:r>
                      <a:r>
                        <a:rPr lang="ko-KR" altLang="en-US" sz="1000" b="0" baseline="0" dirty="0">
                          <a:effectLst/>
                        </a:rPr>
                        <a:t>백업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복구</a:t>
                      </a:r>
                      <a:r>
                        <a:rPr lang="en-US" sz="1000" b="0" baseline="0" dirty="0">
                          <a:effectLst/>
                        </a:rPr>
                        <a:t>)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81"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effectLst/>
                        </a:rPr>
                        <a:t>Display Resolution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effectLst/>
                        </a:rPr>
                        <a:t>선명하고 명확한 </a:t>
                      </a:r>
                      <a:r>
                        <a:rPr lang="en-US" altLang="ko-KR" sz="1000" b="0" dirty="0">
                          <a:effectLst/>
                        </a:rPr>
                        <a:t> LCD</a:t>
                      </a:r>
                      <a:r>
                        <a:rPr lang="ko-KR" altLang="en-US" sz="1000" b="0" dirty="0">
                          <a:effectLst/>
                        </a:rPr>
                        <a:t>디스플레이</a:t>
                      </a:r>
                      <a:endParaRPr lang="en-US" altLang="ko-KR" sz="1000" b="0" dirty="0">
                        <a:effectLst/>
                      </a:endParaRPr>
                    </a:p>
                    <a:p>
                      <a:r>
                        <a:rPr lang="ko-KR" altLang="en-US" sz="1000" b="0" dirty="0">
                          <a:effectLst/>
                        </a:rPr>
                        <a:t>막대 그래프</a:t>
                      </a:r>
                      <a:r>
                        <a:rPr lang="ko-KR" altLang="en-US" sz="1000" b="0" baseline="0" dirty="0">
                          <a:effectLst/>
                        </a:rPr>
                        <a:t>  및 </a:t>
                      </a:r>
                      <a:r>
                        <a:rPr lang="ko-KR" altLang="en-US" sz="1000" b="0" baseline="0" dirty="0" err="1">
                          <a:effectLst/>
                        </a:rPr>
                        <a:t>확장형</a:t>
                      </a:r>
                      <a:r>
                        <a:rPr lang="ko-KR" altLang="en-US" sz="1000" b="0" baseline="0" dirty="0">
                          <a:effectLst/>
                        </a:rPr>
                        <a:t> </a:t>
                      </a:r>
                      <a:r>
                        <a:rPr lang="en-US" altLang="ko-KR" sz="1000" b="0" baseline="0" dirty="0">
                          <a:effectLst/>
                        </a:rPr>
                        <a:t>X/Y</a:t>
                      </a:r>
                      <a:r>
                        <a:rPr lang="ko-KR" altLang="en-US" sz="1000" b="0" baseline="0" dirty="0">
                          <a:effectLst/>
                        </a:rPr>
                        <a:t>그래프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2" descr="C:\Users\Jay Hong\Pictures\그림3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44" y="2852737"/>
            <a:ext cx="2773362" cy="26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3"/>
          <p:cNvSpPr txBox="1">
            <a:spLocks/>
          </p:cNvSpPr>
          <p:nvPr/>
        </p:nvSpPr>
        <p:spPr>
          <a:xfrm>
            <a:off x="873894" y="1590273"/>
            <a:ext cx="2773362" cy="6195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400" b="1" kern="1200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최첨단 기능 탑재</a:t>
            </a:r>
            <a:endParaRPr lang="en-US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62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Sentinel </a:t>
            </a:r>
            <a:r>
              <a:rPr lang="en-US" altLang="ko-KR" sz="4000" dirty="0" err="1">
                <a:solidFill>
                  <a:schemeClr val="bg1"/>
                </a:solidFill>
              </a:rPr>
              <a:t>Blackbelt</a:t>
            </a:r>
            <a:r>
              <a:rPr lang="en-US" altLang="ko-KR" sz="4000" dirty="0">
                <a:solidFill>
                  <a:schemeClr val="bg1"/>
                </a:solidFill>
              </a:rPr>
              <a:t> Pro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671377"/>
              </p:ext>
            </p:extLst>
          </p:nvPr>
        </p:nvGraphicFramePr>
        <p:xfrm>
          <a:off x="3786882" y="1066801"/>
          <a:ext cx="5105400" cy="52312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15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0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  <a:endParaRPr lang="en-US" sz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Capabilities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of Sentinel M24</a:t>
                      </a:r>
                      <a:endParaRPr lang="en-US" sz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85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effectLst/>
                        </a:rPr>
                        <a:t>Versatility</a:t>
                      </a:r>
                      <a:endParaRPr lang="en-US" sz="1200" b="1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baseline="0" dirty="0">
                          <a:effectLst/>
                        </a:rPr>
                        <a:t>압력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ko-KR" altLang="en-US" sz="10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000" b="0" baseline="0" dirty="0">
                          <a:effectLst/>
                        </a:rPr>
                        <a:t> – </a:t>
                      </a:r>
                      <a:r>
                        <a:rPr lang="el-GR" altLang="ko-KR" sz="1000" b="0" dirty="0">
                          <a:effectLst/>
                        </a:rPr>
                        <a:t>Δ</a:t>
                      </a:r>
                      <a:r>
                        <a:rPr lang="en-US" altLang="ko-KR" sz="1000" b="0" dirty="0">
                          <a:effectLst/>
                        </a:rPr>
                        <a:t>P (</a:t>
                      </a:r>
                      <a:r>
                        <a:rPr lang="ko-KR" altLang="en-US" sz="1000" b="0" dirty="0">
                          <a:effectLst/>
                        </a:rPr>
                        <a:t>압력손실 값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압력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ko-KR" altLang="en-US" sz="10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000" b="0" baseline="0" dirty="0">
                          <a:effectLst/>
                        </a:rPr>
                        <a:t> –</a:t>
                      </a:r>
                      <a:r>
                        <a:rPr lang="el-GR" altLang="ko-KR" sz="1000" b="0" dirty="0">
                          <a:effectLst/>
                        </a:rPr>
                        <a:t>Δ</a:t>
                      </a:r>
                      <a:r>
                        <a:rPr lang="en-US" altLang="ko-KR" sz="1000" b="0" dirty="0">
                          <a:effectLst/>
                        </a:rPr>
                        <a:t>P/</a:t>
                      </a:r>
                      <a:r>
                        <a:rPr lang="el-GR" altLang="ko-KR" sz="1000" b="0" dirty="0">
                          <a:effectLst/>
                        </a:rPr>
                        <a:t>Δ</a:t>
                      </a:r>
                      <a:r>
                        <a:rPr lang="en-US" altLang="ko-KR" sz="1000" b="0" dirty="0">
                          <a:effectLst/>
                        </a:rPr>
                        <a:t>T(</a:t>
                      </a:r>
                      <a:r>
                        <a:rPr lang="ko-KR" altLang="en-US" sz="1000" b="0" dirty="0">
                          <a:effectLst/>
                        </a:rPr>
                        <a:t>시간당 압력손실 값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압력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진공 </a:t>
                      </a:r>
                      <a:r>
                        <a:rPr lang="ko-KR" altLang="en-US" sz="10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000" b="0" baseline="0" dirty="0">
                          <a:effectLst/>
                        </a:rPr>
                        <a:t> – Leak Std (</a:t>
                      </a:r>
                      <a:r>
                        <a:rPr lang="ko-KR" altLang="en-US" sz="1000" b="0" baseline="0" dirty="0">
                          <a:effectLst/>
                        </a:rPr>
                        <a:t>교정에 의한 </a:t>
                      </a:r>
                      <a:r>
                        <a:rPr lang="en-US" altLang="ko-KR" sz="1000" b="0" baseline="0" dirty="0" err="1">
                          <a:effectLst/>
                        </a:rPr>
                        <a:t>sccm</a:t>
                      </a:r>
                      <a:r>
                        <a:rPr lang="en-US" altLang="ko-KR" sz="1000" b="0" baseline="0" dirty="0">
                          <a:effectLst/>
                        </a:rPr>
                        <a:t> </a:t>
                      </a:r>
                      <a:r>
                        <a:rPr lang="ko-KR" altLang="en-US" sz="1000" b="0" baseline="0" dirty="0">
                          <a:effectLst/>
                        </a:rPr>
                        <a:t>값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000" b="0" baseline="0" dirty="0" err="1">
                          <a:effectLst/>
                        </a:rPr>
                        <a:t>막힘유무</a:t>
                      </a:r>
                      <a:r>
                        <a:rPr lang="ko-KR" altLang="en-US" sz="1000" b="0" baseline="0" dirty="0">
                          <a:effectLst/>
                        </a:rPr>
                        <a:t> 테스트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 err="1">
                          <a:effectLst/>
                        </a:rPr>
                        <a:t>매스플로우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램프 투 이벤트</a:t>
                      </a:r>
                      <a:r>
                        <a:rPr lang="en-US" altLang="ko-KR" sz="1000" b="0" baseline="0" dirty="0">
                          <a:effectLst/>
                        </a:rPr>
                        <a:t>(</a:t>
                      </a:r>
                      <a:r>
                        <a:rPr lang="ko-KR" altLang="en-US" sz="1000" b="0" baseline="0" dirty="0">
                          <a:effectLst/>
                        </a:rPr>
                        <a:t>변곡점 테스트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램프 투 </a:t>
                      </a:r>
                      <a:r>
                        <a:rPr lang="ko-KR" altLang="en-US" sz="1000" b="0" baseline="0" dirty="0" err="1">
                          <a:effectLst/>
                        </a:rPr>
                        <a:t>프루브</a:t>
                      </a:r>
                      <a:r>
                        <a:rPr lang="en-US" altLang="ko-KR" sz="1000" b="0" baseline="0" dirty="0">
                          <a:effectLst/>
                        </a:rPr>
                        <a:t>(</a:t>
                      </a:r>
                      <a:r>
                        <a:rPr lang="ko-KR" altLang="en-US" sz="1000" b="0" baseline="0" dirty="0">
                          <a:effectLst/>
                        </a:rPr>
                        <a:t>압력 유지 테스트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순차적 링크 기능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상위 프로그램 기능</a:t>
                      </a:r>
                      <a:r>
                        <a:rPr lang="en-US" altLang="ko-KR" sz="1000" b="0" baseline="0" dirty="0">
                          <a:effectLst/>
                        </a:rPr>
                        <a:t>(</a:t>
                      </a:r>
                      <a:r>
                        <a:rPr lang="ko-KR" altLang="en-US" sz="1000" b="0" baseline="0" dirty="0">
                          <a:effectLst/>
                        </a:rPr>
                        <a:t>하위 프로그램을 수행케 하는 기능</a:t>
                      </a:r>
                      <a:r>
                        <a:rPr lang="en-US" altLang="ko-KR" sz="1000" b="0" baseline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전자 </a:t>
                      </a:r>
                      <a:r>
                        <a:rPr lang="ko-KR" altLang="en-US" sz="1000" b="0" baseline="0" dirty="0" err="1">
                          <a:effectLst/>
                        </a:rPr>
                        <a:t>레귤레이터</a:t>
                      </a:r>
                      <a:r>
                        <a:rPr lang="ko-KR" altLang="en-US" sz="1000" b="0" baseline="0" dirty="0">
                          <a:effectLst/>
                        </a:rPr>
                        <a:t> 옵션 장착 가능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218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effectLst/>
                        </a:rPr>
                        <a:t>High Performance</a:t>
                      </a:r>
                      <a:endParaRPr lang="en-US" sz="1200" b="1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effectLst/>
                          <a:latin typeface="+mn-ea"/>
                          <a:ea typeface="+mn-ea"/>
                        </a:rPr>
                        <a:t>24 </a:t>
                      </a:r>
                      <a:r>
                        <a:rPr lang="ko-KR" altLang="en-US" sz="1000" b="0" dirty="0">
                          <a:effectLst/>
                          <a:latin typeface="+mn-ea"/>
                          <a:ea typeface="+mn-ea"/>
                        </a:rPr>
                        <a:t>비트 </a:t>
                      </a:r>
                      <a:r>
                        <a:rPr lang="en-US" altLang="ko-KR" sz="1000" b="0" dirty="0">
                          <a:effectLst/>
                          <a:latin typeface="+mn-ea"/>
                          <a:ea typeface="+mn-ea"/>
                        </a:rPr>
                        <a:t>A/D</a:t>
                      </a:r>
                      <a:r>
                        <a:rPr lang="ko-KR" altLang="en-US" sz="1000" b="0" dirty="0" err="1">
                          <a:effectLst/>
                          <a:latin typeface="+mn-ea"/>
                          <a:ea typeface="+mn-ea"/>
                        </a:rPr>
                        <a:t>컨버팅</a:t>
                      </a:r>
                      <a:endParaRPr lang="en-US" altLang="ko-KR" sz="1000" b="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1000" b="0" dirty="0">
                          <a:effectLst/>
                          <a:latin typeface="+mn-ea"/>
                          <a:ea typeface="+mn-ea"/>
                        </a:rPr>
                        <a:t>32 </a:t>
                      </a:r>
                      <a:r>
                        <a:rPr lang="ko-KR" altLang="en-US" sz="1000" b="0" dirty="0">
                          <a:effectLst/>
                          <a:latin typeface="+mn-ea"/>
                          <a:ea typeface="+mn-ea"/>
                        </a:rPr>
                        <a:t>비트 프로세서 탑재 </a:t>
                      </a:r>
                      <a:r>
                        <a:rPr lang="en-US" altLang="ko-KR" sz="1000" b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  <a:latin typeface="+mn-ea"/>
                          <a:ea typeface="+mn-ea"/>
                        </a:rPr>
                        <a:t>특화된 데이터 처리 기능</a:t>
                      </a:r>
                      <a:r>
                        <a:rPr lang="en-US" altLang="ko-KR" sz="1000" b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ko-KR" altLang="en-US" sz="1000" b="0" dirty="0" err="1">
                          <a:effectLst/>
                          <a:latin typeface="+mn-ea"/>
                          <a:ea typeface="+mn-ea"/>
                        </a:rPr>
                        <a:t>절대압</a:t>
                      </a:r>
                      <a:r>
                        <a:rPr lang="ko-KR" altLang="en-US" sz="1000" b="0" dirty="0">
                          <a:effectLst/>
                          <a:latin typeface="+mn-ea"/>
                          <a:ea typeface="+mn-ea"/>
                        </a:rPr>
                        <a:t>  압력 트랜스 </a:t>
                      </a:r>
                      <a:r>
                        <a:rPr lang="ko-KR" altLang="en-US" sz="1000" b="0" dirty="0" err="1">
                          <a:effectLst/>
                          <a:latin typeface="+mn-ea"/>
                          <a:ea typeface="+mn-ea"/>
                        </a:rPr>
                        <a:t>듀서</a:t>
                      </a:r>
                      <a:r>
                        <a:rPr lang="ko-KR" altLang="en-US" sz="1000" b="0" dirty="0">
                          <a:effectLst/>
                          <a:latin typeface="+mn-ea"/>
                          <a:ea typeface="+mn-ea"/>
                        </a:rPr>
                        <a:t> 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9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effectLst/>
                        </a:rPr>
                        <a:t>Multiple Pressure</a:t>
                      </a:r>
                      <a:r>
                        <a:rPr lang="en-US" sz="1200" b="1" strike="noStrike" baseline="0" dirty="0">
                          <a:effectLst/>
                        </a:rPr>
                        <a:t> </a:t>
                      </a:r>
                      <a:endParaRPr lang="en-US" sz="1200" b="1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strike="noStrike" baseline="0" dirty="0">
                          <a:effectLst/>
                        </a:rPr>
                        <a:t>진공 </a:t>
                      </a:r>
                      <a:r>
                        <a:rPr lang="en-US" altLang="ko-KR" sz="1000" b="0" strike="noStrike" baseline="0" dirty="0">
                          <a:effectLst/>
                        </a:rPr>
                        <a:t>~ </a:t>
                      </a:r>
                      <a:r>
                        <a:rPr lang="en-US" sz="1000" b="0" strike="noStrike" baseline="0" dirty="0">
                          <a:effectLst/>
                        </a:rPr>
                        <a:t>500 psig(</a:t>
                      </a:r>
                      <a:r>
                        <a:rPr lang="ko-KR" altLang="en-US" sz="1000" b="0" strike="noStrike" baseline="0" dirty="0">
                          <a:effectLst/>
                        </a:rPr>
                        <a:t>약 </a:t>
                      </a:r>
                      <a:r>
                        <a:rPr lang="en-US" altLang="ko-KR" sz="1000" b="0" strike="noStrike" baseline="0" dirty="0">
                          <a:effectLst/>
                        </a:rPr>
                        <a:t>34bar)</a:t>
                      </a:r>
                      <a:endParaRPr lang="en-US" sz="1000" b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218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effectLst/>
                        </a:rPr>
                        <a:t>Flexibility</a:t>
                      </a:r>
                      <a:endParaRPr lang="en-US" sz="1200" b="1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000" b="0" strike="noStrike" baseline="0" dirty="0">
                          <a:effectLst/>
                        </a:rPr>
                        <a:t>999</a:t>
                      </a:r>
                      <a:r>
                        <a:rPr lang="ko-KR" altLang="en-US" sz="1000" b="0" strike="noStrike" baseline="0" dirty="0">
                          <a:effectLst/>
                        </a:rPr>
                        <a:t>개 프로그램 제공</a:t>
                      </a:r>
                      <a:endParaRPr lang="en-US" sz="1000" b="0" strike="noStrike" baseline="0" dirty="0">
                        <a:effectLst/>
                      </a:endParaRPr>
                    </a:p>
                    <a:p>
                      <a:r>
                        <a:rPr lang="ko-KR" altLang="en-US" sz="1000" b="0" u="none" strike="noStrike" dirty="0">
                          <a:effectLst/>
                        </a:rPr>
                        <a:t>독립 채널 총 </a:t>
                      </a:r>
                      <a:r>
                        <a:rPr lang="en-US" altLang="ko-KR" sz="1000" b="0" u="none" strike="noStrike" dirty="0">
                          <a:effectLst/>
                        </a:rPr>
                        <a:t>4</a:t>
                      </a:r>
                      <a:r>
                        <a:rPr lang="ko-KR" altLang="en-US" sz="1000" b="0" u="none" strike="noStrike" dirty="0">
                          <a:effectLst/>
                        </a:rPr>
                        <a:t>개 장착 가능</a:t>
                      </a:r>
                      <a:r>
                        <a:rPr lang="en-US" altLang="ko-KR" sz="1000" b="0" u="none" strike="noStrike" dirty="0">
                          <a:effectLst/>
                        </a:rPr>
                        <a:t>(</a:t>
                      </a:r>
                      <a:r>
                        <a:rPr lang="ko-KR" altLang="en-US" sz="1000" b="0" u="none" strike="noStrike" dirty="0" err="1">
                          <a:effectLst/>
                        </a:rPr>
                        <a:t>싱글</a:t>
                      </a:r>
                      <a:r>
                        <a:rPr lang="ko-KR" altLang="en-US" sz="1000" b="0" u="none" strike="noStrike" dirty="0">
                          <a:effectLst/>
                        </a:rPr>
                        <a:t> 압력 </a:t>
                      </a:r>
                      <a:r>
                        <a:rPr lang="en-US" altLang="ko-KR" sz="1000" b="0" u="none" strike="noStrike" dirty="0">
                          <a:effectLst/>
                        </a:rPr>
                        <a:t>4</a:t>
                      </a:r>
                      <a:r>
                        <a:rPr lang="ko-KR" altLang="en-US" sz="1000" b="0" u="none" strike="noStrike" dirty="0">
                          <a:effectLst/>
                        </a:rPr>
                        <a:t>연식</a:t>
                      </a:r>
                      <a:r>
                        <a:rPr lang="en-US" altLang="ko-KR" sz="1000" b="0" u="none" strike="noStrike" dirty="0">
                          <a:effectLst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baseline="0" dirty="0">
                          <a:effectLst/>
                        </a:rPr>
                        <a:t>언어 선택</a:t>
                      </a:r>
                      <a:r>
                        <a:rPr lang="en-US" altLang="ko-KR" sz="1000" b="0" u="none" baseline="0" dirty="0">
                          <a:effectLst/>
                        </a:rPr>
                        <a:t>: </a:t>
                      </a:r>
                      <a:r>
                        <a:rPr lang="ko-KR" altLang="en-US" sz="1000" b="0" u="none" baseline="0" dirty="0">
                          <a:effectLst/>
                        </a:rPr>
                        <a:t>한국어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영어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중국어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스페인어</a:t>
                      </a:r>
                      <a:r>
                        <a:rPr lang="en-US" altLang="ko-KR" sz="1000" b="0" u="none" baseline="0" dirty="0">
                          <a:effectLst/>
                        </a:rPr>
                        <a:t>, </a:t>
                      </a:r>
                      <a:r>
                        <a:rPr lang="ko-KR" altLang="en-US" sz="1000" b="0" u="none" baseline="0" dirty="0">
                          <a:effectLst/>
                        </a:rPr>
                        <a:t>포르투갈어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218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effectLst/>
                        </a:rPr>
                        <a:t>Simplicity</a:t>
                      </a:r>
                      <a:endParaRPr lang="en-US" sz="1200" b="1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000" b="0" baseline="0" dirty="0">
                          <a:effectLst/>
                        </a:rPr>
                        <a:t>자동 </a:t>
                      </a:r>
                      <a:r>
                        <a:rPr lang="ko-KR" altLang="en-US" sz="1000" b="0" baseline="0" dirty="0" err="1">
                          <a:effectLst/>
                        </a:rPr>
                        <a:t>셋업</a:t>
                      </a:r>
                      <a:r>
                        <a:rPr lang="ko-KR" altLang="en-US" sz="1000" b="0" baseline="0" dirty="0">
                          <a:effectLst/>
                        </a:rPr>
                        <a:t> 기능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자동 </a:t>
                      </a:r>
                      <a:r>
                        <a:rPr lang="ko-KR" altLang="en-US" sz="1000" b="0" baseline="0" dirty="0" err="1">
                          <a:effectLst/>
                        </a:rPr>
                        <a:t>칼리브레이션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ko-KR" altLang="en-US" sz="1000" b="0" dirty="0">
                          <a:effectLst/>
                        </a:rPr>
                        <a:t>자가 진단 모드 제공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732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effectLst/>
                        </a:rPr>
                        <a:t>Communication</a:t>
                      </a:r>
                      <a:endParaRPr lang="en-US" sz="1200" b="1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effectLst/>
                        </a:rPr>
                        <a:t>RS232 –</a:t>
                      </a:r>
                      <a:r>
                        <a:rPr lang="en-US" altLang="ko-KR" sz="1000" b="0" baseline="0" dirty="0">
                          <a:effectLst/>
                        </a:rPr>
                        <a:t> 2</a:t>
                      </a:r>
                      <a:r>
                        <a:rPr lang="ko-KR" altLang="en-US" sz="1000" b="0" baseline="0" dirty="0">
                          <a:effectLst/>
                        </a:rPr>
                        <a:t>개 포트</a:t>
                      </a:r>
                      <a:endParaRPr lang="en-US" altLang="ko-KR" sz="1000" b="0" dirty="0">
                        <a:effectLst/>
                      </a:endParaRPr>
                    </a:p>
                    <a:p>
                      <a:r>
                        <a:rPr lang="en-US" altLang="ko-KR" sz="1000" b="0" dirty="0">
                          <a:effectLst/>
                        </a:rPr>
                        <a:t>Ethernet</a:t>
                      </a:r>
                    </a:p>
                    <a:p>
                      <a:r>
                        <a:rPr lang="en-US" altLang="ko-KR" sz="1000" b="0" dirty="0">
                          <a:effectLst/>
                        </a:rPr>
                        <a:t>Email</a:t>
                      </a:r>
                      <a:r>
                        <a:rPr lang="en-US" altLang="ko-KR" sz="1000" b="0" baseline="0" dirty="0">
                          <a:effectLst/>
                        </a:rPr>
                        <a:t> Notifications</a:t>
                      </a:r>
                    </a:p>
                    <a:p>
                      <a:r>
                        <a:rPr lang="en-US" altLang="ko-KR" sz="1000" b="0" baseline="0" dirty="0">
                          <a:effectLst/>
                        </a:rPr>
                        <a:t>18 Inputs/ 18 Outputs for PLC Integration</a:t>
                      </a:r>
                    </a:p>
                    <a:p>
                      <a:r>
                        <a:rPr lang="ko-KR" altLang="en-US" sz="1000" b="0" baseline="0" dirty="0">
                          <a:effectLst/>
                        </a:rPr>
                        <a:t>바코드 지원</a:t>
                      </a:r>
                      <a:endParaRPr lang="en-US" altLang="ko-KR" sz="1000" b="0" baseline="0" dirty="0">
                        <a:effectLst/>
                      </a:endParaRPr>
                    </a:p>
                    <a:p>
                      <a:r>
                        <a:rPr lang="en-US" altLang="ko-KR" sz="1000" b="0" baseline="0" dirty="0">
                          <a:effectLst/>
                        </a:rPr>
                        <a:t>USB (</a:t>
                      </a:r>
                      <a:r>
                        <a:rPr lang="ko-KR" altLang="en-US" sz="1000" b="0" baseline="0" dirty="0">
                          <a:effectLst/>
                        </a:rPr>
                        <a:t>데이터 저장</a:t>
                      </a:r>
                      <a:r>
                        <a:rPr lang="en-US" altLang="ko-KR" sz="1000" b="0" baseline="0" dirty="0">
                          <a:effectLst/>
                        </a:rPr>
                        <a:t>, </a:t>
                      </a:r>
                      <a:r>
                        <a:rPr lang="ko-KR" altLang="en-US" sz="1000" b="0" baseline="0" dirty="0">
                          <a:effectLst/>
                        </a:rPr>
                        <a:t>백업</a:t>
                      </a:r>
                      <a:r>
                        <a:rPr lang="en-US" altLang="ko-KR" sz="1000" b="0" baseline="0" dirty="0">
                          <a:effectLst/>
                        </a:rPr>
                        <a:t>/</a:t>
                      </a:r>
                      <a:r>
                        <a:rPr lang="ko-KR" altLang="en-US" sz="1000" b="0" baseline="0" dirty="0">
                          <a:effectLst/>
                        </a:rPr>
                        <a:t>복구</a:t>
                      </a:r>
                      <a:r>
                        <a:rPr lang="en-US" altLang="ko-KR" sz="1000" b="0" baseline="0" dirty="0">
                          <a:effectLst/>
                        </a:rPr>
                        <a:t>)-3</a:t>
                      </a:r>
                      <a:r>
                        <a:rPr lang="ko-KR" altLang="en-US" sz="1000" b="0" baseline="0" dirty="0">
                          <a:effectLst/>
                        </a:rPr>
                        <a:t>개 포트</a:t>
                      </a:r>
                      <a:endParaRPr lang="en-US" altLang="ko-KR" sz="1000" b="0" baseline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373">
                <a:tc>
                  <a:txBody>
                    <a:bodyPr/>
                    <a:lstStyle/>
                    <a:p>
                      <a:r>
                        <a:rPr lang="en-US" sz="1200" b="1" strike="noStrike" baseline="0" dirty="0">
                          <a:effectLst/>
                        </a:rPr>
                        <a:t>Display Resolution</a:t>
                      </a:r>
                      <a:endParaRPr lang="en-US" sz="1200" b="1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strike="noStrike" dirty="0">
                          <a:effectLst/>
                        </a:rPr>
                        <a:t>9</a:t>
                      </a:r>
                      <a:r>
                        <a:rPr lang="ko-KR" altLang="en-US" sz="1000" b="0" strike="noStrike" dirty="0">
                          <a:effectLst/>
                        </a:rPr>
                        <a:t>인치 터치스크린</a:t>
                      </a:r>
                      <a:r>
                        <a:rPr lang="en-US" altLang="ko-KR" sz="1000" b="0" strike="noStrike" dirty="0">
                          <a:effectLst/>
                        </a:rPr>
                        <a:t>.</a:t>
                      </a:r>
                    </a:p>
                    <a:p>
                      <a:r>
                        <a:rPr lang="en-US" altLang="ko-KR" sz="1000" b="0" strike="noStrike" dirty="0">
                          <a:effectLst/>
                        </a:rPr>
                        <a:t>XY</a:t>
                      </a:r>
                      <a:r>
                        <a:rPr lang="ko-KR" altLang="en-US" sz="1000" b="0" strike="noStrike" dirty="0">
                          <a:effectLst/>
                        </a:rPr>
                        <a:t>축 그래프와 차트 구현 가능한 </a:t>
                      </a:r>
                      <a:r>
                        <a:rPr lang="en-US" altLang="ko-KR" sz="1000" b="0" strike="noStrike" dirty="0">
                          <a:effectLst/>
                        </a:rPr>
                        <a:t>LCD</a:t>
                      </a:r>
                      <a:r>
                        <a:rPr lang="en-US" altLang="ko-KR" sz="1000" b="0" strike="noStrike" baseline="0" dirty="0">
                          <a:effectLst/>
                        </a:rPr>
                        <a:t> </a:t>
                      </a:r>
                      <a:r>
                        <a:rPr lang="ko-KR" altLang="en-US" sz="1000" b="0" strike="noStrike" baseline="0" dirty="0">
                          <a:effectLst/>
                        </a:rPr>
                        <a:t>디스플레이</a:t>
                      </a:r>
                      <a:endParaRPr lang="en-US" sz="1000" b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1" name="Title 3"/>
          <p:cNvSpPr txBox="1">
            <a:spLocks/>
          </p:cNvSpPr>
          <p:nvPr/>
        </p:nvSpPr>
        <p:spPr>
          <a:xfrm>
            <a:off x="632520" y="1371600"/>
            <a:ext cx="2773362" cy="14132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400" b="1" kern="1200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차세대 멀티 장비</a:t>
            </a:r>
            <a:endParaRPr lang="en-US" altLang="ko-KR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최대 </a:t>
            </a:r>
            <a:r>
              <a:rPr lang="en-US" altLang="ko-KR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4</a:t>
            </a: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연식 탑재</a:t>
            </a:r>
            <a:endParaRPr lang="en-US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1282" y="2590800"/>
            <a:ext cx="2181718" cy="1742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96082" y="4485606"/>
            <a:ext cx="1676400" cy="178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111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Sentinel C-28 WE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192193"/>
              </p:ext>
            </p:extLst>
          </p:nvPr>
        </p:nvGraphicFramePr>
        <p:xfrm>
          <a:off x="3952055" y="1600200"/>
          <a:ext cx="5105401" cy="4785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15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0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  <a:endParaRPr lang="en-US" sz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Capabilities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of Sentinel C28</a:t>
                      </a:r>
                      <a:endParaRPr lang="en-US" sz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111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Versatility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압력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ko-KR" altLang="en-US" sz="11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100" b="0" baseline="0" dirty="0">
                          <a:effectLst/>
                        </a:rPr>
                        <a:t> – </a:t>
                      </a:r>
                      <a:r>
                        <a:rPr lang="el-GR" altLang="ko-KR" sz="1100" b="0" dirty="0">
                          <a:effectLst/>
                        </a:rPr>
                        <a:t>Δ</a:t>
                      </a:r>
                      <a:r>
                        <a:rPr lang="en-US" altLang="ko-KR" sz="1100" b="0" dirty="0">
                          <a:effectLst/>
                        </a:rPr>
                        <a:t>P (</a:t>
                      </a:r>
                      <a:r>
                        <a:rPr lang="ko-KR" altLang="en-US" sz="1100" b="0" dirty="0">
                          <a:effectLst/>
                        </a:rPr>
                        <a:t>압력손실 값</a:t>
                      </a:r>
                      <a:r>
                        <a:rPr lang="en-US" altLang="ko-KR" sz="1100" b="0" dirty="0">
                          <a:effectLst/>
                        </a:rPr>
                        <a:t>)</a:t>
                      </a:r>
                      <a:endParaRPr lang="en-US" altLang="ko-KR" sz="1100" b="0" baseline="0" dirty="0">
                        <a:effectLst/>
                      </a:endParaRPr>
                    </a:p>
                    <a:p>
                      <a:r>
                        <a:rPr lang="ko-KR" altLang="en-US" sz="1100" b="0" baseline="0" dirty="0">
                          <a:effectLst/>
                        </a:rPr>
                        <a:t>압력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ko-KR" altLang="en-US" sz="11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100" b="0" baseline="0" dirty="0">
                          <a:effectLst/>
                        </a:rPr>
                        <a:t> –</a:t>
                      </a:r>
                      <a:r>
                        <a:rPr lang="el-GR" altLang="ko-KR" sz="1100" b="0" dirty="0">
                          <a:effectLst/>
                        </a:rPr>
                        <a:t>Δ</a:t>
                      </a:r>
                      <a:r>
                        <a:rPr lang="en-US" altLang="ko-KR" sz="1100" b="0" dirty="0">
                          <a:effectLst/>
                        </a:rPr>
                        <a:t>P/</a:t>
                      </a:r>
                      <a:r>
                        <a:rPr lang="el-GR" altLang="ko-KR" sz="1100" b="0" dirty="0">
                          <a:effectLst/>
                        </a:rPr>
                        <a:t>Δ</a:t>
                      </a:r>
                      <a:r>
                        <a:rPr lang="en-US" altLang="ko-KR" sz="1100" b="0" dirty="0">
                          <a:effectLst/>
                        </a:rPr>
                        <a:t>T(</a:t>
                      </a:r>
                      <a:r>
                        <a:rPr lang="ko-KR" altLang="en-US" sz="1100" b="0" dirty="0">
                          <a:effectLst/>
                        </a:rPr>
                        <a:t>시간당 압력손실 값</a:t>
                      </a:r>
                      <a:r>
                        <a:rPr lang="en-US" altLang="ko-KR" sz="1100" b="0" dirty="0">
                          <a:effectLst/>
                        </a:rPr>
                        <a:t>)</a:t>
                      </a:r>
                      <a:endParaRPr lang="en-US" altLang="ko-KR" sz="1100" b="0" baseline="0" dirty="0">
                        <a:effectLst/>
                      </a:endParaRPr>
                    </a:p>
                    <a:p>
                      <a:r>
                        <a:rPr lang="ko-KR" altLang="en-US" sz="1100" b="0" baseline="0" dirty="0">
                          <a:effectLst/>
                        </a:rPr>
                        <a:t>압력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ko-KR" altLang="en-US" sz="1100" b="0" baseline="0" dirty="0" err="1">
                          <a:effectLst/>
                        </a:rPr>
                        <a:t>디케이</a:t>
                      </a:r>
                      <a:r>
                        <a:rPr lang="en-US" altLang="ko-KR" sz="1100" b="0" baseline="0" dirty="0">
                          <a:effectLst/>
                        </a:rPr>
                        <a:t> – Leak </a:t>
                      </a:r>
                      <a:r>
                        <a:rPr lang="en-US" altLang="ko-KR" sz="1100" b="0" baseline="0" dirty="0" err="1">
                          <a:effectLst/>
                        </a:rPr>
                        <a:t>Std</a:t>
                      </a:r>
                      <a:r>
                        <a:rPr lang="en-US" altLang="ko-KR" sz="1100" b="0" baseline="0" dirty="0">
                          <a:effectLst/>
                        </a:rPr>
                        <a:t> (</a:t>
                      </a:r>
                      <a:r>
                        <a:rPr lang="ko-KR" altLang="en-US" sz="1100" b="0" baseline="0" dirty="0">
                          <a:effectLst/>
                        </a:rPr>
                        <a:t>교정에 의한 </a:t>
                      </a:r>
                      <a:r>
                        <a:rPr lang="en-US" altLang="ko-KR" sz="1100" b="0" baseline="0" dirty="0" err="1">
                          <a:effectLst/>
                        </a:rPr>
                        <a:t>sccm</a:t>
                      </a:r>
                      <a:r>
                        <a:rPr lang="en-US" altLang="ko-KR" sz="1100" b="0" baseline="0" dirty="0">
                          <a:effectLst/>
                        </a:rPr>
                        <a:t> </a:t>
                      </a:r>
                      <a:r>
                        <a:rPr lang="ko-KR" altLang="en-US" sz="1100" b="0" baseline="0" dirty="0">
                          <a:effectLst/>
                        </a:rPr>
                        <a:t>값</a:t>
                      </a:r>
                      <a:r>
                        <a:rPr lang="en-US" altLang="ko-KR" sz="1100" b="0" baseline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100" b="0" baseline="0" dirty="0" err="1">
                          <a:effectLst/>
                        </a:rPr>
                        <a:t>막힘유무</a:t>
                      </a:r>
                      <a:r>
                        <a:rPr lang="ko-KR" altLang="en-US" sz="1100" b="0" baseline="0" dirty="0">
                          <a:effectLst/>
                        </a:rPr>
                        <a:t> 테스트</a:t>
                      </a:r>
                      <a:endParaRPr lang="en-US" altLang="ko-KR" sz="1100" b="0" baseline="0" dirty="0">
                        <a:effectLst/>
                      </a:endParaRPr>
                    </a:p>
                    <a:p>
                      <a:r>
                        <a:rPr lang="ko-KR" altLang="en-US" sz="1100" b="0" baseline="0" dirty="0">
                          <a:effectLst/>
                        </a:rPr>
                        <a:t>전자 </a:t>
                      </a:r>
                      <a:r>
                        <a:rPr lang="ko-KR" altLang="en-US" sz="1100" b="0" baseline="0" dirty="0" err="1">
                          <a:effectLst/>
                        </a:rPr>
                        <a:t>레귤레이터</a:t>
                      </a:r>
                      <a:r>
                        <a:rPr lang="ko-KR" altLang="en-US" sz="1100" b="0" baseline="0" dirty="0">
                          <a:effectLst/>
                        </a:rPr>
                        <a:t> 옵션 장착 가능</a:t>
                      </a:r>
                      <a:endParaRPr lang="en-US" sz="1100" b="0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799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High Performance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0" dirty="0">
                          <a:effectLst/>
                        </a:rPr>
                        <a:t>24 </a:t>
                      </a:r>
                      <a:r>
                        <a:rPr lang="ko-KR" altLang="en-US" sz="1100" b="0" dirty="0">
                          <a:effectLst/>
                        </a:rPr>
                        <a:t>비트 </a:t>
                      </a:r>
                      <a:r>
                        <a:rPr lang="en-US" altLang="ko-KR" sz="1100" b="0" dirty="0">
                          <a:effectLst/>
                        </a:rPr>
                        <a:t>A/D</a:t>
                      </a:r>
                      <a:r>
                        <a:rPr lang="ko-KR" altLang="en-US" sz="1100" b="0" dirty="0" err="1">
                          <a:effectLst/>
                        </a:rPr>
                        <a:t>컨버팅</a:t>
                      </a:r>
                      <a:endParaRPr lang="en-US" altLang="ko-KR" sz="1100" b="0" dirty="0">
                        <a:effectLst/>
                      </a:endParaRPr>
                    </a:p>
                    <a:p>
                      <a:r>
                        <a:rPr lang="en-US" altLang="ko-KR" sz="1100" b="0" dirty="0">
                          <a:effectLst/>
                        </a:rPr>
                        <a:t>32 </a:t>
                      </a:r>
                      <a:r>
                        <a:rPr lang="ko-KR" altLang="en-US" sz="1100" b="0" dirty="0">
                          <a:effectLst/>
                        </a:rPr>
                        <a:t>비트 프로세서 탑재 </a:t>
                      </a:r>
                      <a:r>
                        <a:rPr lang="en-US" altLang="ko-KR" sz="1100" b="0" dirty="0">
                          <a:effectLst/>
                        </a:rPr>
                        <a:t>(</a:t>
                      </a:r>
                      <a:r>
                        <a:rPr lang="ko-KR" altLang="en-US" sz="1100" b="0" dirty="0">
                          <a:effectLst/>
                        </a:rPr>
                        <a:t>특화된 데이터 처리 기능</a:t>
                      </a:r>
                      <a:r>
                        <a:rPr lang="en-US" altLang="ko-KR" sz="1100" b="0" dirty="0">
                          <a:effectLst/>
                        </a:rPr>
                        <a:t>)</a:t>
                      </a:r>
                    </a:p>
                    <a:p>
                      <a:r>
                        <a:rPr lang="ko-KR" altLang="en-US" sz="1100" b="0" dirty="0" err="1">
                          <a:effectLst/>
                        </a:rPr>
                        <a:t>절대압</a:t>
                      </a:r>
                      <a:r>
                        <a:rPr lang="ko-KR" altLang="en-US" sz="1100" b="0" dirty="0">
                          <a:effectLst/>
                        </a:rPr>
                        <a:t>  압력 트랜스 </a:t>
                      </a:r>
                      <a:r>
                        <a:rPr lang="ko-KR" altLang="en-US" sz="1100" b="0" dirty="0" err="1">
                          <a:effectLst/>
                        </a:rPr>
                        <a:t>듀서</a:t>
                      </a:r>
                      <a:r>
                        <a:rPr lang="ko-KR" altLang="en-US" sz="1100" b="0" dirty="0">
                          <a:effectLst/>
                        </a:rPr>
                        <a:t> 적용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759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Pressure</a:t>
                      </a:r>
                      <a:r>
                        <a:rPr lang="en-US" sz="1200" b="1" baseline="0" dirty="0">
                          <a:effectLst/>
                        </a:rPr>
                        <a:t> Ranges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en-US" altLang="ko-KR" sz="1100" b="0" baseline="0" dirty="0">
                          <a:effectLst/>
                        </a:rPr>
                        <a:t>~ </a:t>
                      </a:r>
                      <a:r>
                        <a:rPr lang="en-US" sz="1100" b="0" baseline="0" dirty="0">
                          <a:effectLst/>
                        </a:rPr>
                        <a:t> 200 psig(</a:t>
                      </a:r>
                      <a:r>
                        <a:rPr lang="ko-KR" altLang="en-US" sz="1100" b="0" baseline="0" dirty="0">
                          <a:effectLst/>
                        </a:rPr>
                        <a:t>약 </a:t>
                      </a:r>
                      <a:r>
                        <a:rPr lang="en-US" altLang="ko-KR" sz="1100" b="0" baseline="0" dirty="0">
                          <a:effectLst/>
                        </a:rPr>
                        <a:t>13.5bar)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Flexibility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32</a:t>
                      </a:r>
                      <a:r>
                        <a:rPr lang="ko-KR" altLang="en-US" sz="1100" b="0" dirty="0">
                          <a:effectLst/>
                        </a:rPr>
                        <a:t>개 프로그램 제공</a:t>
                      </a:r>
                      <a:endParaRPr lang="en-US" sz="1100" b="0" u="sng" baseline="0" dirty="0">
                        <a:effectLst/>
                      </a:endParaRPr>
                    </a:p>
                    <a:p>
                      <a:r>
                        <a:rPr lang="ko-KR" altLang="en-US" sz="1100" b="0" u="none" baseline="0" dirty="0">
                          <a:effectLst/>
                        </a:rPr>
                        <a:t>언어에 상관없는 </a:t>
                      </a:r>
                      <a:r>
                        <a:rPr lang="ko-KR" altLang="en-US" sz="1100" b="0" u="none" baseline="0" dirty="0" err="1">
                          <a:effectLst/>
                        </a:rPr>
                        <a:t>키패드</a:t>
                      </a:r>
                      <a:endParaRPr lang="en-US" altLang="ko-KR" sz="1100" b="0" u="none" baseline="0" dirty="0">
                        <a:effectLst/>
                      </a:endParaRPr>
                    </a:p>
                    <a:p>
                      <a:r>
                        <a:rPr lang="ko-KR" altLang="en-US" sz="1100" b="0" u="sng" baseline="0" dirty="0">
                          <a:effectLst/>
                        </a:rPr>
                        <a:t>언어 선택</a:t>
                      </a:r>
                      <a:r>
                        <a:rPr lang="en-US" altLang="ko-KR" sz="1100" b="0" u="sng" baseline="0" dirty="0">
                          <a:effectLst/>
                        </a:rPr>
                        <a:t>: </a:t>
                      </a:r>
                      <a:r>
                        <a:rPr lang="ko-KR" altLang="en-US" sz="1100" b="0" u="sng" baseline="0" dirty="0">
                          <a:effectLst/>
                        </a:rPr>
                        <a:t>한글</a:t>
                      </a:r>
                      <a:r>
                        <a:rPr lang="en-US" altLang="ko-KR" sz="1100" b="0" u="sng" baseline="0" dirty="0">
                          <a:effectLst/>
                        </a:rPr>
                        <a:t>, </a:t>
                      </a:r>
                      <a:r>
                        <a:rPr lang="ko-KR" altLang="en-US" sz="1100" b="0" u="sng" baseline="0" dirty="0">
                          <a:effectLst/>
                        </a:rPr>
                        <a:t>영어</a:t>
                      </a:r>
                      <a:r>
                        <a:rPr lang="en-US" altLang="ko-KR" sz="1100" b="0" u="sng" baseline="0" dirty="0">
                          <a:effectLst/>
                        </a:rPr>
                        <a:t>, </a:t>
                      </a:r>
                      <a:r>
                        <a:rPr lang="ko-KR" altLang="en-US" sz="1100" b="0" u="sng" baseline="0" dirty="0">
                          <a:effectLst/>
                        </a:rPr>
                        <a:t>중문</a:t>
                      </a:r>
                      <a:r>
                        <a:rPr lang="en-US" altLang="ko-KR" sz="1100" b="0" u="sng" baseline="0" dirty="0">
                          <a:effectLst/>
                        </a:rPr>
                        <a:t>, </a:t>
                      </a:r>
                      <a:r>
                        <a:rPr lang="ko-KR" altLang="en-US" sz="1100" b="0" u="sng" baseline="0" dirty="0">
                          <a:effectLst/>
                        </a:rPr>
                        <a:t>스페인어</a:t>
                      </a:r>
                      <a:r>
                        <a:rPr lang="en-US" altLang="ko-KR" sz="1100" b="0" u="sng" baseline="0" dirty="0">
                          <a:effectLst/>
                        </a:rPr>
                        <a:t>  (</a:t>
                      </a:r>
                      <a:r>
                        <a:rPr lang="ko-KR" altLang="en-US" sz="1100" b="0" u="sng" baseline="0" dirty="0" err="1">
                          <a:effectLst/>
                        </a:rPr>
                        <a:t>요청시</a:t>
                      </a:r>
                      <a:r>
                        <a:rPr lang="ko-KR" altLang="en-US" sz="1100" b="0" u="sng" baseline="0" dirty="0">
                          <a:effectLst/>
                        </a:rPr>
                        <a:t> 다른 언어도 가능함</a:t>
                      </a:r>
                      <a:r>
                        <a:rPr lang="en-US" altLang="ko-KR" sz="1100" b="0" u="sng" baseline="0" dirty="0">
                          <a:effectLst/>
                        </a:rPr>
                        <a:t>)</a:t>
                      </a:r>
                      <a:endParaRPr lang="en-US" altLang="ko-KR" sz="1100" b="0" u="sn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Simplicity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자동 </a:t>
                      </a:r>
                      <a:r>
                        <a:rPr lang="ko-KR" altLang="en-US" sz="1100" b="0" baseline="0" dirty="0" err="1">
                          <a:effectLst/>
                        </a:rPr>
                        <a:t>셋업</a:t>
                      </a:r>
                      <a:r>
                        <a:rPr lang="ko-KR" altLang="en-US" sz="1100" b="0" baseline="0" dirty="0">
                          <a:effectLst/>
                        </a:rPr>
                        <a:t> 기능</a:t>
                      </a:r>
                      <a:endParaRPr lang="en-US" altLang="ko-KR" sz="1100" b="0" baseline="0" dirty="0">
                        <a:effectLst/>
                      </a:endParaRPr>
                    </a:p>
                    <a:p>
                      <a:r>
                        <a:rPr lang="ko-KR" altLang="en-US" sz="1100" b="0" baseline="0" dirty="0">
                          <a:effectLst/>
                        </a:rPr>
                        <a:t>자동 </a:t>
                      </a:r>
                      <a:r>
                        <a:rPr lang="ko-KR" altLang="en-US" sz="1100" b="0" baseline="0" dirty="0" err="1">
                          <a:effectLst/>
                        </a:rPr>
                        <a:t>칼리브레이션</a:t>
                      </a:r>
                      <a:endParaRPr lang="en-US" altLang="ko-KR" sz="1100" b="0" baseline="0" dirty="0">
                        <a:effectLst/>
                      </a:endParaRPr>
                    </a:p>
                    <a:p>
                      <a:r>
                        <a:rPr lang="ko-KR" altLang="en-US" sz="1100" b="0" dirty="0">
                          <a:effectLst/>
                        </a:rPr>
                        <a:t>자가 진단 모드 제공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222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RS232</a:t>
                      </a:r>
                    </a:p>
                    <a:p>
                      <a:r>
                        <a:rPr lang="en-US" sz="1100" b="0" dirty="0">
                          <a:effectLst/>
                        </a:rPr>
                        <a:t>Ethernet</a:t>
                      </a:r>
                    </a:p>
                    <a:p>
                      <a:r>
                        <a:rPr lang="en-US" sz="1100" b="0" dirty="0">
                          <a:effectLst/>
                        </a:rPr>
                        <a:t>Email</a:t>
                      </a:r>
                      <a:r>
                        <a:rPr lang="en-US" sz="1100" b="0" baseline="0" dirty="0">
                          <a:effectLst/>
                        </a:rPr>
                        <a:t> Notifications</a:t>
                      </a:r>
                    </a:p>
                    <a:p>
                      <a:r>
                        <a:rPr lang="en-US" sz="1100" b="0" baseline="0" dirty="0">
                          <a:effectLst/>
                        </a:rPr>
                        <a:t>6 Inputs/3 Outputs for PLC Integration</a:t>
                      </a:r>
                    </a:p>
                    <a:p>
                      <a:r>
                        <a:rPr lang="en-US" sz="1100" b="0" baseline="0" dirty="0">
                          <a:effectLst/>
                        </a:rPr>
                        <a:t>USB (</a:t>
                      </a:r>
                      <a:r>
                        <a:rPr lang="ko-KR" altLang="en-US" sz="1100" b="0" baseline="0" dirty="0">
                          <a:effectLst/>
                        </a:rPr>
                        <a:t>백업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복구용</a:t>
                      </a:r>
                      <a:r>
                        <a:rPr lang="en-US" sz="1100" b="0" baseline="0" dirty="0">
                          <a:effectLst/>
                        </a:rPr>
                        <a:t>)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effectLst/>
                        </a:rPr>
                        <a:t>Display Resolution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dirty="0">
                          <a:effectLst/>
                        </a:rPr>
                        <a:t>선명하고 명확한 </a:t>
                      </a:r>
                      <a:r>
                        <a:rPr lang="en-US" altLang="ko-KR" sz="1100" b="0" dirty="0">
                          <a:effectLst/>
                        </a:rPr>
                        <a:t> LCD</a:t>
                      </a:r>
                      <a:r>
                        <a:rPr lang="ko-KR" altLang="en-US" sz="1100" b="0" dirty="0">
                          <a:effectLst/>
                        </a:rPr>
                        <a:t>디스플레이</a:t>
                      </a:r>
                      <a:endParaRPr lang="en-US" altLang="ko-KR" sz="1100" b="0" dirty="0">
                        <a:effectLst/>
                      </a:endParaRPr>
                    </a:p>
                    <a:p>
                      <a:r>
                        <a:rPr lang="ko-KR" altLang="en-US" sz="1100" b="0" dirty="0">
                          <a:effectLst/>
                        </a:rPr>
                        <a:t>막대 그래프 제공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itle 3"/>
          <p:cNvSpPr txBox="1">
            <a:spLocks/>
          </p:cNvSpPr>
          <p:nvPr/>
        </p:nvSpPr>
        <p:spPr>
          <a:xfrm>
            <a:off x="721493" y="1634723"/>
            <a:ext cx="2773362" cy="14132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400" b="1" kern="1200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베스트 셀러</a:t>
            </a:r>
            <a:endParaRPr lang="en-US" altLang="ko-KR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우수한 성능</a:t>
            </a:r>
            <a:endParaRPr lang="en-US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5455" y="3276600"/>
            <a:ext cx="282442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7876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Sentinel C-20 WE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955676"/>
              </p:ext>
            </p:extLst>
          </p:nvPr>
        </p:nvGraphicFramePr>
        <p:xfrm>
          <a:off x="3803848" y="1600200"/>
          <a:ext cx="5181600" cy="45720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9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569"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  <a:endParaRPr lang="en-US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Capabilities</a:t>
                      </a:r>
                      <a:r>
                        <a:rPr lang="en-US" sz="12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of Sentinel C20 WE</a:t>
                      </a:r>
                      <a:endParaRPr lang="en-US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245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Versatility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압력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ko-KR" altLang="en-US" sz="1100" b="0" baseline="0" dirty="0" err="1">
                          <a:effectLst/>
                        </a:rPr>
                        <a:t>디케이</a:t>
                      </a:r>
                      <a:r>
                        <a:rPr lang="en-US" sz="1100" b="0" baseline="0" dirty="0">
                          <a:effectLst/>
                        </a:rPr>
                        <a:t> – </a:t>
                      </a:r>
                      <a:r>
                        <a:rPr lang="el-GR" sz="1100" b="0" dirty="0">
                          <a:effectLst/>
                        </a:rPr>
                        <a:t>Δ</a:t>
                      </a:r>
                      <a:r>
                        <a:rPr lang="en-US" sz="1100" b="0" dirty="0">
                          <a:effectLst/>
                        </a:rPr>
                        <a:t>P (</a:t>
                      </a:r>
                      <a:r>
                        <a:rPr lang="ko-KR" altLang="en-US" sz="1100" b="0" dirty="0">
                          <a:effectLst/>
                        </a:rPr>
                        <a:t>압력손실 값</a:t>
                      </a:r>
                      <a:r>
                        <a:rPr lang="en-US" altLang="ko-KR" sz="1100" b="0" dirty="0">
                          <a:effectLst/>
                        </a:rPr>
                        <a:t>)</a:t>
                      </a:r>
                      <a:endParaRPr lang="en-US" sz="1100" b="0" baseline="0" dirty="0">
                        <a:effectLst/>
                      </a:endParaRPr>
                    </a:p>
                    <a:p>
                      <a:r>
                        <a:rPr lang="ko-KR" altLang="en-US" sz="1100" b="0" baseline="0" dirty="0">
                          <a:effectLst/>
                        </a:rPr>
                        <a:t>압력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ko-KR" altLang="en-US" sz="1100" b="0" baseline="0" dirty="0" err="1">
                          <a:effectLst/>
                        </a:rPr>
                        <a:t>디케이</a:t>
                      </a:r>
                      <a:r>
                        <a:rPr lang="en-US" sz="1100" b="0" baseline="0" dirty="0">
                          <a:effectLst/>
                        </a:rPr>
                        <a:t> –</a:t>
                      </a:r>
                      <a:r>
                        <a:rPr lang="el-GR" sz="1100" b="0" dirty="0">
                          <a:effectLst/>
                        </a:rPr>
                        <a:t>Δ</a:t>
                      </a:r>
                      <a:r>
                        <a:rPr lang="en-US" sz="1100" b="0" dirty="0">
                          <a:effectLst/>
                        </a:rPr>
                        <a:t>P/</a:t>
                      </a:r>
                      <a:r>
                        <a:rPr lang="el-GR" sz="1100" b="0" dirty="0">
                          <a:effectLst/>
                        </a:rPr>
                        <a:t>Δ</a:t>
                      </a:r>
                      <a:r>
                        <a:rPr lang="en-US" sz="1100" b="0" dirty="0">
                          <a:effectLst/>
                        </a:rPr>
                        <a:t>T(</a:t>
                      </a:r>
                      <a:r>
                        <a:rPr lang="ko-KR" altLang="en-US" sz="1100" b="0" dirty="0">
                          <a:effectLst/>
                        </a:rPr>
                        <a:t>시간당 압력손실 값</a:t>
                      </a:r>
                      <a:r>
                        <a:rPr lang="en-US" altLang="ko-KR" sz="1100" b="0" dirty="0">
                          <a:effectLst/>
                        </a:rPr>
                        <a:t>)</a:t>
                      </a:r>
                      <a:endParaRPr lang="en-US" sz="1100" b="0" baseline="0" dirty="0">
                        <a:effectLst/>
                      </a:endParaRPr>
                    </a:p>
                    <a:p>
                      <a:r>
                        <a:rPr lang="ko-KR" altLang="en-US" sz="1100" b="0" baseline="0" dirty="0">
                          <a:effectLst/>
                        </a:rPr>
                        <a:t>압력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ko-KR" altLang="en-US" sz="1100" b="0" baseline="0" dirty="0" err="1">
                          <a:effectLst/>
                        </a:rPr>
                        <a:t>디케이</a:t>
                      </a:r>
                      <a:r>
                        <a:rPr lang="en-US" sz="1100" b="0" baseline="0" dirty="0">
                          <a:effectLst/>
                        </a:rPr>
                        <a:t> – Leak </a:t>
                      </a:r>
                      <a:r>
                        <a:rPr lang="en-US" sz="1100" b="0" baseline="0" dirty="0" err="1">
                          <a:effectLst/>
                        </a:rPr>
                        <a:t>Std</a:t>
                      </a:r>
                      <a:r>
                        <a:rPr lang="en-US" sz="1100" b="0" baseline="0" dirty="0">
                          <a:effectLst/>
                        </a:rPr>
                        <a:t> (</a:t>
                      </a:r>
                      <a:r>
                        <a:rPr lang="ko-KR" altLang="en-US" sz="1100" b="0" baseline="0" dirty="0">
                          <a:effectLst/>
                        </a:rPr>
                        <a:t>교정에 의한 </a:t>
                      </a:r>
                      <a:r>
                        <a:rPr lang="en-US" altLang="ko-KR" sz="1100" b="0" baseline="0" dirty="0" err="1">
                          <a:effectLst/>
                        </a:rPr>
                        <a:t>sccm</a:t>
                      </a:r>
                      <a:r>
                        <a:rPr lang="en-US" altLang="ko-KR" sz="1100" b="0" baseline="0" dirty="0">
                          <a:effectLst/>
                        </a:rPr>
                        <a:t> </a:t>
                      </a:r>
                      <a:r>
                        <a:rPr lang="ko-KR" altLang="en-US" sz="1100" b="0" baseline="0" dirty="0">
                          <a:effectLst/>
                        </a:rPr>
                        <a:t>값</a:t>
                      </a:r>
                      <a:r>
                        <a:rPr lang="en-US" altLang="ko-KR" sz="1100" b="0" baseline="0" dirty="0">
                          <a:effectLst/>
                        </a:rPr>
                        <a:t>)</a:t>
                      </a:r>
                      <a:endParaRPr lang="en-US" sz="1100" b="0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111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High Performance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24 </a:t>
                      </a:r>
                      <a:r>
                        <a:rPr lang="ko-KR" altLang="en-US" sz="1100" b="0" dirty="0">
                          <a:effectLst/>
                        </a:rPr>
                        <a:t>비트 </a:t>
                      </a:r>
                      <a:r>
                        <a:rPr lang="en-US" altLang="ko-KR" sz="1100" b="0" dirty="0">
                          <a:effectLst/>
                        </a:rPr>
                        <a:t>A/D</a:t>
                      </a:r>
                      <a:r>
                        <a:rPr lang="ko-KR" altLang="en-US" sz="1100" b="0" dirty="0" err="1">
                          <a:effectLst/>
                        </a:rPr>
                        <a:t>컨버팅</a:t>
                      </a:r>
                      <a:endParaRPr lang="en-US" sz="1100" b="0" dirty="0">
                        <a:effectLst/>
                      </a:endParaRPr>
                    </a:p>
                    <a:p>
                      <a:r>
                        <a:rPr lang="en-US" sz="1100" b="0" dirty="0">
                          <a:effectLst/>
                        </a:rPr>
                        <a:t>32 </a:t>
                      </a:r>
                      <a:r>
                        <a:rPr lang="ko-KR" altLang="en-US" sz="1100" b="0" dirty="0">
                          <a:effectLst/>
                        </a:rPr>
                        <a:t>비트 프로세서 탑재 </a:t>
                      </a:r>
                      <a:r>
                        <a:rPr lang="en-US" altLang="ko-KR" sz="1100" b="0" dirty="0">
                          <a:effectLst/>
                        </a:rPr>
                        <a:t>(</a:t>
                      </a:r>
                      <a:r>
                        <a:rPr lang="ko-KR" altLang="en-US" sz="1100" b="0" dirty="0">
                          <a:effectLst/>
                        </a:rPr>
                        <a:t>특화된 데이터 처리 기능</a:t>
                      </a:r>
                      <a:r>
                        <a:rPr lang="en-US" altLang="ko-KR" sz="1100" b="0" dirty="0">
                          <a:effectLst/>
                        </a:rPr>
                        <a:t>)</a:t>
                      </a:r>
                      <a:endParaRPr lang="en-US" sz="1100" b="0" dirty="0">
                        <a:effectLst/>
                      </a:endParaRPr>
                    </a:p>
                    <a:p>
                      <a:r>
                        <a:rPr lang="ko-KR" altLang="en-US" sz="1100" b="0" dirty="0" err="1">
                          <a:effectLst/>
                        </a:rPr>
                        <a:t>절대압</a:t>
                      </a:r>
                      <a:r>
                        <a:rPr lang="ko-KR" altLang="en-US" sz="1100" b="0" dirty="0">
                          <a:effectLst/>
                        </a:rPr>
                        <a:t>  압력 트랜스 </a:t>
                      </a:r>
                      <a:r>
                        <a:rPr lang="ko-KR" altLang="en-US" sz="1100" b="0" dirty="0" err="1">
                          <a:effectLst/>
                        </a:rPr>
                        <a:t>듀서</a:t>
                      </a:r>
                      <a:r>
                        <a:rPr lang="ko-KR" altLang="en-US" sz="1100" b="0" dirty="0">
                          <a:effectLst/>
                        </a:rPr>
                        <a:t> 적용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87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Pressure</a:t>
                      </a:r>
                      <a:r>
                        <a:rPr lang="en-US" sz="1200" b="1" baseline="0" dirty="0">
                          <a:effectLst/>
                        </a:rPr>
                        <a:t> Ranges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진공 </a:t>
                      </a:r>
                      <a:r>
                        <a:rPr lang="en-US" altLang="ko-KR" sz="1100" b="0" baseline="0" dirty="0">
                          <a:effectLst/>
                        </a:rPr>
                        <a:t>~</a:t>
                      </a:r>
                      <a:r>
                        <a:rPr lang="en-US" sz="1100" b="0" baseline="0" dirty="0">
                          <a:effectLst/>
                        </a:rPr>
                        <a:t> 100 psig(</a:t>
                      </a:r>
                      <a:r>
                        <a:rPr lang="ko-KR" altLang="en-US" sz="1100" b="0" baseline="0" dirty="0">
                          <a:effectLst/>
                        </a:rPr>
                        <a:t>약 </a:t>
                      </a:r>
                      <a:r>
                        <a:rPr lang="en-US" altLang="ko-KR" sz="1100" b="0" baseline="0" dirty="0">
                          <a:effectLst/>
                        </a:rPr>
                        <a:t>7bar)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245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Flexibility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프로그램 총 </a:t>
                      </a:r>
                      <a:r>
                        <a:rPr lang="en-US" altLang="ko-KR" sz="1100" b="0" baseline="0" dirty="0">
                          <a:effectLst/>
                        </a:rPr>
                        <a:t>4</a:t>
                      </a:r>
                      <a:r>
                        <a:rPr lang="ko-KR" altLang="en-US" sz="1100" b="0" baseline="0" dirty="0">
                          <a:effectLst/>
                        </a:rPr>
                        <a:t>개 가능</a:t>
                      </a:r>
                      <a:endParaRPr lang="en-US" sz="1100" b="0" baseline="0" dirty="0">
                        <a:effectLst/>
                      </a:endParaRPr>
                    </a:p>
                    <a:p>
                      <a:r>
                        <a:rPr lang="ko-KR" altLang="en-US" sz="1100" b="0" u="none" baseline="0" dirty="0">
                          <a:effectLst/>
                        </a:rPr>
                        <a:t>언어에 상관없는 </a:t>
                      </a:r>
                      <a:r>
                        <a:rPr lang="ko-KR" altLang="en-US" sz="1100" b="0" u="none" baseline="0" dirty="0" err="1">
                          <a:effectLst/>
                        </a:rPr>
                        <a:t>키패드</a:t>
                      </a:r>
                      <a:endParaRPr lang="en-US" sz="1100" b="0" u="none" baseline="0" dirty="0">
                        <a:effectLst/>
                      </a:endParaRPr>
                    </a:p>
                    <a:p>
                      <a:r>
                        <a:rPr lang="ko-KR" altLang="en-US" sz="1100" b="0" u="sng" baseline="0" dirty="0">
                          <a:effectLst/>
                        </a:rPr>
                        <a:t>언어 선택</a:t>
                      </a:r>
                      <a:r>
                        <a:rPr lang="en-US" altLang="ko-KR" sz="1100" b="0" u="sng" baseline="0" dirty="0">
                          <a:effectLst/>
                        </a:rPr>
                        <a:t>: </a:t>
                      </a:r>
                      <a:r>
                        <a:rPr lang="ko-KR" altLang="en-US" sz="1100" b="0" u="sng" baseline="0" dirty="0">
                          <a:effectLst/>
                        </a:rPr>
                        <a:t>한글</a:t>
                      </a:r>
                      <a:r>
                        <a:rPr lang="en-US" altLang="ko-KR" sz="1100" b="0" u="sng" baseline="0" dirty="0">
                          <a:effectLst/>
                        </a:rPr>
                        <a:t>, </a:t>
                      </a:r>
                      <a:r>
                        <a:rPr lang="ko-KR" altLang="en-US" sz="1100" b="0" u="sng" baseline="0" dirty="0">
                          <a:effectLst/>
                        </a:rPr>
                        <a:t>영어</a:t>
                      </a:r>
                      <a:r>
                        <a:rPr lang="en-US" altLang="ko-KR" sz="1100" b="0" u="sng" baseline="0" dirty="0">
                          <a:effectLst/>
                        </a:rPr>
                        <a:t>, </a:t>
                      </a:r>
                      <a:r>
                        <a:rPr lang="ko-KR" altLang="en-US" sz="1100" b="0" u="sng" baseline="0" dirty="0">
                          <a:effectLst/>
                        </a:rPr>
                        <a:t>중문</a:t>
                      </a:r>
                      <a:r>
                        <a:rPr lang="en-US" altLang="ko-KR" sz="1100" b="0" u="sng" baseline="0" dirty="0">
                          <a:effectLst/>
                        </a:rPr>
                        <a:t>, </a:t>
                      </a:r>
                      <a:r>
                        <a:rPr lang="ko-KR" altLang="en-US" sz="1100" b="0" u="sng" baseline="0" dirty="0">
                          <a:effectLst/>
                        </a:rPr>
                        <a:t>스페인어</a:t>
                      </a:r>
                      <a:r>
                        <a:rPr lang="en-US" sz="1100" b="0" u="sng" baseline="0" dirty="0">
                          <a:effectLst/>
                        </a:rPr>
                        <a:t>  (</a:t>
                      </a:r>
                      <a:r>
                        <a:rPr lang="ko-KR" altLang="en-US" sz="1100" b="0" u="sng" baseline="0" dirty="0" err="1">
                          <a:effectLst/>
                        </a:rPr>
                        <a:t>요청시</a:t>
                      </a:r>
                      <a:r>
                        <a:rPr lang="ko-KR" altLang="en-US" sz="1100" b="0" u="sng" baseline="0" dirty="0">
                          <a:effectLst/>
                        </a:rPr>
                        <a:t> 다른 언어도 가능함</a:t>
                      </a:r>
                      <a:r>
                        <a:rPr lang="en-US" sz="1100" b="0" u="sng" baseline="0" dirty="0">
                          <a:effectLst/>
                        </a:rPr>
                        <a:t>)</a:t>
                      </a:r>
                      <a:endParaRPr lang="en-US" sz="1100" b="0" u="sn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977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Simplicity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baseline="0" dirty="0">
                          <a:effectLst/>
                        </a:rPr>
                        <a:t>자동 </a:t>
                      </a:r>
                      <a:r>
                        <a:rPr lang="ko-KR" altLang="en-US" sz="1100" b="0" baseline="0" dirty="0" err="1">
                          <a:effectLst/>
                        </a:rPr>
                        <a:t>칼리브레이션</a:t>
                      </a:r>
                      <a:endParaRPr lang="en-US" sz="1100" b="0" baseline="0" dirty="0">
                        <a:effectLst/>
                      </a:endParaRPr>
                    </a:p>
                    <a:p>
                      <a:r>
                        <a:rPr lang="ko-KR" altLang="en-US" sz="1100" b="0" dirty="0">
                          <a:effectLst/>
                        </a:rPr>
                        <a:t>자가 진단 모드 제공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111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effectLst/>
                        </a:rPr>
                        <a:t>RS232</a:t>
                      </a:r>
                    </a:p>
                    <a:p>
                      <a:r>
                        <a:rPr lang="en-US" sz="1100" b="0" baseline="0" dirty="0">
                          <a:effectLst/>
                        </a:rPr>
                        <a:t>6 Inputs/3 Outputs for PLC Integration</a:t>
                      </a:r>
                    </a:p>
                    <a:p>
                      <a:r>
                        <a:rPr lang="en-US" sz="1100" b="0" baseline="0" dirty="0">
                          <a:effectLst/>
                        </a:rPr>
                        <a:t>USB (</a:t>
                      </a:r>
                      <a:r>
                        <a:rPr lang="ko-KR" altLang="en-US" sz="1100" b="0" baseline="0" dirty="0">
                          <a:effectLst/>
                        </a:rPr>
                        <a:t>백업</a:t>
                      </a:r>
                      <a:r>
                        <a:rPr lang="en-US" altLang="ko-KR" sz="1100" b="0" baseline="0" dirty="0">
                          <a:effectLst/>
                        </a:rPr>
                        <a:t>/</a:t>
                      </a:r>
                      <a:r>
                        <a:rPr lang="ko-KR" altLang="en-US" sz="1100" b="0" baseline="0" dirty="0">
                          <a:effectLst/>
                        </a:rPr>
                        <a:t>복구 용</a:t>
                      </a:r>
                      <a:r>
                        <a:rPr lang="en-US" sz="1100" b="0" baseline="0" dirty="0">
                          <a:effectLst/>
                        </a:rPr>
                        <a:t>)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157">
                <a:tc>
                  <a:txBody>
                    <a:bodyPr/>
                    <a:lstStyle/>
                    <a:p>
                      <a:r>
                        <a:rPr lang="en-US" sz="1200" b="1" baseline="0" dirty="0">
                          <a:effectLst/>
                        </a:rPr>
                        <a:t>Display Resolution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b="0" dirty="0">
                          <a:effectLst/>
                        </a:rPr>
                        <a:t>선명하고 명확한 </a:t>
                      </a:r>
                      <a:r>
                        <a:rPr lang="en-US" sz="1100" b="0" dirty="0">
                          <a:effectLst/>
                        </a:rPr>
                        <a:t> LCD</a:t>
                      </a:r>
                      <a:r>
                        <a:rPr lang="ko-KR" altLang="en-US" sz="1100" b="0" dirty="0">
                          <a:effectLst/>
                        </a:rPr>
                        <a:t>디스플레이</a:t>
                      </a:r>
                      <a:endParaRPr lang="en-US" altLang="ko-KR" sz="1100" b="0" dirty="0">
                        <a:effectLst/>
                      </a:endParaRPr>
                    </a:p>
                    <a:p>
                      <a:r>
                        <a:rPr lang="ko-KR" altLang="en-US" sz="1100" b="0" dirty="0">
                          <a:effectLst/>
                        </a:rPr>
                        <a:t>막대 그래프 제공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Picture 2" descr="C:\Users\Jay Hong\Pictures\그림3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98" y="2838126"/>
            <a:ext cx="3232150" cy="271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3"/>
          <p:cNvSpPr txBox="1">
            <a:spLocks/>
          </p:cNvSpPr>
          <p:nvPr/>
        </p:nvSpPr>
        <p:spPr>
          <a:xfrm>
            <a:off x="878086" y="1634723"/>
            <a:ext cx="2773362" cy="14132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400" b="1" kern="1200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가격 대비 </a:t>
            </a:r>
            <a:endParaRPr lang="en-US" altLang="ko-KR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성능 우수</a:t>
            </a:r>
            <a:endParaRPr lang="en-US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069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GM </a:t>
            </a:r>
            <a:r>
              <a:rPr lang="ko-KR" altLang="en-US" sz="4000" dirty="0">
                <a:solidFill>
                  <a:schemeClr val="bg1"/>
                </a:solidFill>
              </a:rPr>
              <a:t>맞춤 사양 장치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7" name="Picture 2" descr="J:\41000-41999\R41770A  Hirata Corporation\As Shipped Pictures\Cam Housing\P102024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3256" y="1926771"/>
            <a:ext cx="3048000" cy="2286000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507" y="1250042"/>
            <a:ext cx="3065749" cy="3639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내용 개체 틀 6"/>
          <p:cNvSpPr>
            <a:spLocks noGrp="1"/>
          </p:cNvSpPr>
          <p:nvPr>
            <p:ph idx="1"/>
          </p:nvPr>
        </p:nvSpPr>
        <p:spPr>
          <a:xfrm>
            <a:off x="694184" y="4736381"/>
            <a:ext cx="8363272" cy="189301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002060"/>
                </a:solidFill>
              </a:rPr>
              <a:t> 특화 기능</a:t>
            </a:r>
            <a:r>
              <a:rPr lang="en-US" altLang="ko-KR" dirty="0">
                <a:solidFill>
                  <a:srgbClr val="002060"/>
                </a:solidFill>
              </a:rPr>
              <a:t>: </a:t>
            </a:r>
            <a:r>
              <a:rPr lang="en-US" altLang="ko-KR" dirty="0" err="1">
                <a:solidFill>
                  <a:srgbClr val="002060"/>
                </a:solidFill>
              </a:rPr>
              <a:t>Profibus</a:t>
            </a:r>
            <a:r>
              <a:rPr lang="ko-KR" altLang="en-US" dirty="0">
                <a:solidFill>
                  <a:srgbClr val="002060"/>
                </a:solidFill>
              </a:rPr>
              <a:t> 통신 기능 탑재</a:t>
            </a:r>
            <a:endParaRPr lang="en-US" altLang="ko-KR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002060"/>
                </a:solidFill>
              </a:rPr>
              <a:t> 급속 충진 및 배기 기능</a:t>
            </a:r>
            <a:endParaRPr lang="en-US" altLang="ko-KR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002060"/>
                </a:solidFill>
              </a:rPr>
              <a:t> 진공</a:t>
            </a:r>
            <a:r>
              <a:rPr lang="en-US" altLang="ko-KR" dirty="0">
                <a:solidFill>
                  <a:srgbClr val="002060"/>
                </a:solidFill>
              </a:rPr>
              <a:t>, </a:t>
            </a:r>
            <a:r>
              <a:rPr lang="ko-KR" altLang="en-US" dirty="0">
                <a:solidFill>
                  <a:srgbClr val="002060"/>
                </a:solidFill>
              </a:rPr>
              <a:t>압력 그리고 유량 테스트를 선택적으로 적용 가능</a:t>
            </a:r>
            <a:endParaRPr lang="en-US" altLang="ko-KR" dirty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solidFill>
                  <a:srgbClr val="002060"/>
                </a:solidFill>
              </a:rPr>
              <a:t> Q-DAS(GM</a:t>
            </a:r>
            <a:r>
              <a:rPr lang="ko-KR" altLang="en-US" dirty="0">
                <a:solidFill>
                  <a:srgbClr val="002060"/>
                </a:solidFill>
              </a:rPr>
              <a:t>의 표준화 데이터 분석 프로그램</a:t>
            </a:r>
            <a:r>
              <a:rPr lang="en-US" altLang="ko-KR" dirty="0">
                <a:solidFill>
                  <a:srgbClr val="002060"/>
                </a:solidFill>
              </a:rPr>
              <a:t>) </a:t>
            </a:r>
            <a:r>
              <a:rPr lang="ko-KR" altLang="en-US" dirty="0">
                <a:solidFill>
                  <a:srgbClr val="002060"/>
                </a:solidFill>
              </a:rPr>
              <a:t>기능 탑재</a:t>
            </a:r>
            <a:endParaRPr lang="ko-KR" altLang="en-US" dirty="0"/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751655" y="2158130"/>
            <a:ext cx="2286001" cy="20328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400" b="1" kern="1200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멀티</a:t>
            </a:r>
            <a:r>
              <a:rPr lang="en-US" altLang="ko-KR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압력</a:t>
            </a:r>
            <a:r>
              <a:rPr lang="en-US" altLang="ko-KR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/</a:t>
            </a: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진공 </a:t>
            </a:r>
            <a:r>
              <a:rPr lang="ko-KR" altLang="en-US" sz="2400" dirty="0" err="1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디케이</a:t>
            </a:r>
            <a:r>
              <a:rPr lang="ko-KR" altLang="en-US" sz="24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장치</a:t>
            </a:r>
            <a:endParaRPr lang="en-US" sz="24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931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맑은 고딕" pitchFamily="50" charset="-127"/>
                <a:cs typeface="Calibri" pitchFamily="34" charset="0"/>
              </a:rPr>
              <a:t>기타 </a:t>
            </a:r>
            <a:r>
              <a:rPr lang="en-US" altLang="ko-KR" sz="2800" dirty="0">
                <a:solidFill>
                  <a:schemeClr val="bg1"/>
                </a:solidFill>
                <a:latin typeface="맑은 고딕" pitchFamily="50" charset="-127"/>
                <a:cs typeface="Calibri" pitchFamily="34" charset="0"/>
              </a:rPr>
              <a:t>Accessory</a:t>
            </a:r>
            <a:endParaRPr lang="en-US" altLang="ko-KR" sz="2800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제목 2"/>
          <p:cNvSpPr txBox="1">
            <a:spLocks/>
          </p:cNvSpPr>
          <p:nvPr/>
        </p:nvSpPr>
        <p:spPr>
          <a:xfrm>
            <a:off x="416496" y="1133872"/>
            <a:ext cx="83632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ko-KR" altLang="en-US" sz="2800" dirty="0"/>
              <a:t>교정용 표준 제품 </a:t>
            </a:r>
            <a:r>
              <a:rPr lang="en-US" altLang="ko-KR" sz="2800" dirty="0"/>
              <a:t>– Leak Master (Air</a:t>
            </a:r>
            <a:r>
              <a:rPr lang="ko-KR" altLang="en-US" sz="2800" dirty="0"/>
              <a:t>용</a:t>
            </a:r>
            <a:r>
              <a:rPr lang="en-US" altLang="ko-KR" sz="2800" dirty="0"/>
              <a:t> / Helium</a:t>
            </a:r>
            <a:r>
              <a:rPr lang="ko-KR" altLang="en-US" sz="2800" dirty="0"/>
              <a:t>용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pic>
        <p:nvPicPr>
          <p:cNvPr id="14" name="Picture 6" descr="http://www.cincinnati-test.com/images/helium-leak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93365" y="2173264"/>
            <a:ext cx="2499995" cy="178041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pic>
        <p:nvPicPr>
          <p:cNvPr id="15" name="Picture 25" descr="New Orific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93365" y="4141638"/>
            <a:ext cx="2362200" cy="174580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208584" y="5517232"/>
            <a:ext cx="37712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1"/>
            <a:r>
              <a:rPr lang="en-US" dirty="0">
                <a:latin typeface="맑은 고딕" pitchFamily="50" charset="-127"/>
                <a:ea typeface="맑은 고딕" pitchFamily="50" charset="-127"/>
              </a:rPr>
              <a:t>ISO 17025 Certified</a:t>
            </a:r>
          </a:p>
          <a:p>
            <a:pPr lvl="1"/>
            <a:r>
              <a:rPr lang="en-US" dirty="0">
                <a:latin typeface="맑은 고딕" pitchFamily="50" charset="-127"/>
                <a:ea typeface="맑은 고딕" pitchFamily="50" charset="-127"/>
              </a:rPr>
              <a:t>A2LA Accredited</a:t>
            </a:r>
          </a:p>
          <a:p>
            <a:pPr lvl="1"/>
            <a:r>
              <a:rPr lang="en-US" dirty="0">
                <a:latin typeface="맑은 고딕" pitchFamily="50" charset="-127"/>
                <a:ea typeface="맑은 고딕" pitchFamily="50" charset="-127"/>
              </a:rPr>
              <a:t>NIST Certified Leak Standards</a:t>
            </a:r>
          </a:p>
        </p:txBody>
      </p:sp>
      <p:pic>
        <p:nvPicPr>
          <p:cNvPr id="1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/>
          <a:srcRect l="18300" t="14640" r="16948" b="5405"/>
          <a:stretch>
            <a:fillRect/>
          </a:stretch>
        </p:blipFill>
        <p:spPr bwMode="auto">
          <a:xfrm>
            <a:off x="965519" y="2084238"/>
            <a:ext cx="4443191" cy="34290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</p:spTree>
    <p:extLst>
      <p:ext uri="{BB962C8B-B14F-4D97-AF65-F5344CB8AC3E}">
        <p14:creationId xmlns:p14="http://schemas.microsoft.com/office/powerpoint/2010/main" val="3264570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2048" y="2008907"/>
            <a:ext cx="5169024" cy="1060053"/>
          </a:xfrm>
        </p:spPr>
        <p:txBody>
          <a:bodyPr anchor="ctr" anchorCtr="0">
            <a:normAutofit/>
          </a:bodyPr>
          <a:lstStyle/>
          <a:p>
            <a:pPr algn="l"/>
            <a:r>
              <a:rPr lang="ko-KR" altLang="en-US" sz="5400" b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방식</a:t>
            </a:r>
            <a:endParaRPr lang="en-US" altLang="ko-KR" sz="5400" b="1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6490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</a:rPr>
              <a:t>절대압</a:t>
            </a:r>
            <a:r>
              <a:rPr lang="ko-KR" altLang="en-US" sz="4000" dirty="0">
                <a:solidFill>
                  <a:schemeClr val="bg1"/>
                </a:solidFill>
              </a:rPr>
              <a:t> 압력 감소 테스트</a:t>
            </a:r>
            <a:r>
              <a:rPr lang="en-US" altLang="ko-KR" sz="4000" dirty="0">
                <a:solidFill>
                  <a:schemeClr val="bg1"/>
                </a:solidFill>
              </a:rPr>
              <a:t>(AP)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내용 개체 틀 3"/>
          <p:cNvSpPr>
            <a:spLocks noGrp="1"/>
          </p:cNvSpPr>
          <p:nvPr>
            <p:ph sz="half" idx="1"/>
          </p:nvPr>
        </p:nvSpPr>
        <p:spPr>
          <a:xfrm>
            <a:off x="755848" y="1874520"/>
            <a:ext cx="7696200" cy="170688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제품에서 일어나는 압력 </a:t>
            </a:r>
            <a:r>
              <a:rPr lang="ko-KR" altLang="en-US" dirty="0" err="1"/>
              <a:t>변화값을</a:t>
            </a:r>
            <a:r>
              <a:rPr lang="ko-KR" altLang="en-US" dirty="0"/>
              <a:t> 모니터링</a:t>
            </a:r>
            <a:endParaRPr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시간 경과에 따라 </a:t>
            </a:r>
            <a:r>
              <a:rPr lang="ko-KR" altLang="en-US" dirty="0" err="1"/>
              <a:t>리크에</a:t>
            </a:r>
            <a:r>
              <a:rPr lang="ko-KR" altLang="en-US" dirty="0"/>
              <a:t> 기인한 압력 </a:t>
            </a:r>
            <a:r>
              <a:rPr lang="ko-KR" altLang="en-US" dirty="0" err="1"/>
              <a:t>변화값을</a:t>
            </a:r>
            <a:r>
              <a:rPr lang="ko-KR" altLang="en-US" dirty="0"/>
              <a:t> 구분</a:t>
            </a:r>
            <a:r>
              <a:rPr altLang="ko-KR" dirty="0"/>
              <a:t>, </a:t>
            </a:r>
            <a:r>
              <a:rPr lang="ko-KR" altLang="en-US" dirty="0"/>
              <a:t>교정된 데이터에 의하여 최종 </a:t>
            </a:r>
            <a:r>
              <a:rPr lang="ko-KR" altLang="en-US" dirty="0" err="1"/>
              <a:t>리크</a:t>
            </a:r>
            <a:r>
              <a:rPr lang="ko-KR" altLang="en-US" dirty="0"/>
              <a:t> 값을 판정함</a:t>
            </a:r>
            <a:endParaRPr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테스트 회로 최소화 </a:t>
            </a:r>
            <a:r>
              <a:rPr lang="ko-KR" altLang="en-US" dirty="0">
                <a:sym typeface="Wingdings" pitchFamily="2" charset="2"/>
              </a:rPr>
              <a:t> 테스트 </a:t>
            </a:r>
            <a:r>
              <a:rPr lang="ko-KR" altLang="en-US" dirty="0" err="1">
                <a:sym typeface="Wingdings" pitchFamily="2" charset="2"/>
              </a:rPr>
              <a:t>써킷내의</a:t>
            </a:r>
            <a:r>
              <a:rPr lang="ko-KR" altLang="en-US" dirty="0">
                <a:sym typeface="Wingdings" pitchFamily="2" charset="2"/>
              </a:rPr>
              <a:t> 오류를 최소화 함</a:t>
            </a:r>
            <a:endParaRPr altLang="ko-KR" dirty="0"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altLang="ko-KR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946848" y="3962400"/>
            <a:ext cx="4038600" cy="205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8548" y="3962400"/>
            <a:ext cx="396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2251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</a:rPr>
              <a:t>절대압</a:t>
            </a:r>
            <a:r>
              <a:rPr lang="ko-KR" altLang="en-US" sz="4000" dirty="0">
                <a:solidFill>
                  <a:schemeClr val="bg1"/>
                </a:solidFill>
              </a:rPr>
              <a:t> 압력</a:t>
            </a:r>
            <a:r>
              <a:rPr lang="en-US" altLang="ko-KR" sz="4000" dirty="0">
                <a:solidFill>
                  <a:schemeClr val="bg1"/>
                </a:solidFill>
              </a:rPr>
              <a:t> </a:t>
            </a:r>
            <a:r>
              <a:rPr lang="ko-KR" altLang="en-US" sz="4000" dirty="0">
                <a:solidFill>
                  <a:schemeClr val="bg1"/>
                </a:solidFill>
              </a:rPr>
              <a:t>감소 테스트</a:t>
            </a:r>
            <a:r>
              <a:rPr lang="en-US" altLang="ko-KR" sz="4000" dirty="0">
                <a:solidFill>
                  <a:schemeClr val="bg1"/>
                </a:solidFill>
              </a:rPr>
              <a:t>(AP) </a:t>
            </a:r>
            <a:r>
              <a:rPr lang="ko-KR" altLang="en-US" sz="4000" dirty="0">
                <a:solidFill>
                  <a:schemeClr val="bg1"/>
                </a:solidFill>
              </a:rPr>
              <a:t>압력 곡선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내용 개체 틀 29"/>
          <p:cNvSpPr>
            <a:spLocks noGrp="1"/>
          </p:cNvSpPr>
          <p:nvPr>
            <p:ph idx="1"/>
          </p:nvPr>
        </p:nvSpPr>
        <p:spPr>
          <a:xfrm>
            <a:off x="5499115" y="1701377"/>
            <a:ext cx="3566336" cy="2319815"/>
          </a:xfrm>
        </p:spPr>
        <p:txBody>
          <a:bodyPr rtlCol="0">
            <a:normAutofit fontScale="62500" lnSpcReduction="20000"/>
          </a:bodyPr>
          <a:lstStyle/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공정</a:t>
            </a:r>
            <a:endParaRPr lang="en-US" altLang="ko-KR" dirty="0"/>
          </a:p>
          <a:p>
            <a:pPr lvl="1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충진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테스트 압력 가압</a:t>
            </a:r>
            <a:endParaRPr lang="en-US" altLang="ko-KR" dirty="0"/>
          </a:p>
          <a:p>
            <a:pPr lvl="1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안정화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차단밸브 작동</a:t>
            </a:r>
            <a:endParaRPr lang="en-US" altLang="ko-KR" dirty="0">
              <a:sym typeface="Wingdings" pitchFamily="2" charset="2"/>
            </a:endParaRPr>
          </a:p>
          <a:p>
            <a:pPr lvl="1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>
                <a:sym typeface="Wingdings" pitchFamily="2" charset="2"/>
              </a:rPr>
              <a:t>테스트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/>
              <a:t>∆P</a:t>
            </a:r>
            <a:r>
              <a:rPr lang="ko-KR" altLang="en-US" dirty="0"/>
              <a:t>측정</a:t>
            </a:r>
            <a:endParaRPr lang="en-US" altLang="ko-KR" dirty="0"/>
          </a:p>
          <a:p>
            <a:pPr lvl="1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배기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압력 배기</a:t>
            </a:r>
            <a:endParaRPr lang="en-US" altLang="ko-KR" dirty="0"/>
          </a:p>
        </p:txBody>
      </p:sp>
      <p:grpSp>
        <p:nvGrpSpPr>
          <p:cNvPr id="11" name="그룹 27"/>
          <p:cNvGrpSpPr>
            <a:grpSpLocks/>
          </p:cNvGrpSpPr>
          <p:nvPr/>
        </p:nvGrpSpPr>
        <p:grpSpPr bwMode="auto">
          <a:xfrm>
            <a:off x="446964" y="1600201"/>
            <a:ext cx="5072122" cy="4106468"/>
            <a:chOff x="446923" y="1752600"/>
            <a:chExt cx="5072289" cy="2839695"/>
          </a:xfrm>
        </p:grpSpPr>
        <p:sp>
          <p:nvSpPr>
            <p:cNvPr id="12" name="직사각형 11"/>
            <p:cNvSpPr/>
            <p:nvPr/>
          </p:nvSpPr>
          <p:spPr>
            <a:xfrm>
              <a:off x="3229026" y="3114950"/>
              <a:ext cx="1000158" cy="376540"/>
            </a:xfrm>
            <a:prstGeom prst="rect">
              <a:avLst/>
            </a:prstGeom>
            <a:blipFill>
              <a:blip r:embed="rId3" cstate="print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kumimoji="0" lang="ko-KR" altLang="en-US"/>
            </a:p>
          </p:txBody>
        </p:sp>
        <p:sp>
          <p:nvSpPr>
            <p:cNvPr id="14" name="Freeform 3"/>
            <p:cNvSpPr>
              <a:spLocks/>
            </p:cNvSpPr>
            <p:nvPr/>
          </p:nvSpPr>
          <p:spPr bwMode="auto">
            <a:xfrm>
              <a:off x="1054560" y="2390902"/>
              <a:ext cx="3904433" cy="1911011"/>
            </a:xfrm>
            <a:custGeom>
              <a:avLst/>
              <a:gdLst>
                <a:gd name="T0" fmla="*/ 0 w 4264"/>
                <a:gd name="T1" fmla="*/ 0 h 2087"/>
                <a:gd name="T2" fmla="*/ 0 w 4264"/>
                <a:gd name="T3" fmla="*/ 2147483647 h 2087"/>
                <a:gd name="T4" fmla="*/ 2147483647 w 4264"/>
                <a:gd name="T5" fmla="*/ 2147483647 h 2087"/>
                <a:gd name="T6" fmla="*/ 0 60000 65536"/>
                <a:gd name="T7" fmla="*/ 0 60000 65536"/>
                <a:gd name="T8" fmla="*/ 0 60000 65536"/>
                <a:gd name="T9" fmla="*/ 0 w 4264"/>
                <a:gd name="T10" fmla="*/ 0 h 2087"/>
                <a:gd name="T11" fmla="*/ 4264 w 4264"/>
                <a:gd name="T12" fmla="*/ 2087 h 20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64" h="2087">
                  <a:moveTo>
                    <a:pt x="0" y="0"/>
                  </a:moveTo>
                  <a:lnTo>
                    <a:pt x="0" y="2087"/>
                  </a:lnTo>
                  <a:lnTo>
                    <a:pt x="4264" y="2087"/>
                  </a:ln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15" name="Freeform 4"/>
            <p:cNvSpPr>
              <a:spLocks/>
            </p:cNvSpPr>
            <p:nvPr/>
          </p:nvSpPr>
          <p:spPr bwMode="auto">
            <a:xfrm>
              <a:off x="1054560" y="2633555"/>
              <a:ext cx="1239822" cy="1668358"/>
            </a:xfrm>
            <a:custGeom>
              <a:avLst/>
              <a:gdLst>
                <a:gd name="T0" fmla="*/ 0 w 1354"/>
                <a:gd name="T1" fmla="*/ 2147483647 h 1822"/>
                <a:gd name="T2" fmla="*/ 2147483647 w 1354"/>
                <a:gd name="T3" fmla="*/ 2147483647 h 1822"/>
                <a:gd name="T4" fmla="*/ 2147483647 w 1354"/>
                <a:gd name="T5" fmla="*/ 2147483647 h 1822"/>
                <a:gd name="T6" fmla="*/ 0 60000 65536"/>
                <a:gd name="T7" fmla="*/ 0 60000 65536"/>
                <a:gd name="T8" fmla="*/ 0 60000 65536"/>
                <a:gd name="T9" fmla="*/ 0 w 1354"/>
                <a:gd name="T10" fmla="*/ 0 h 1822"/>
                <a:gd name="T11" fmla="*/ 1354 w 1354"/>
                <a:gd name="T12" fmla="*/ 1822 h 18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4" h="1822">
                  <a:moveTo>
                    <a:pt x="0" y="1822"/>
                  </a:moveTo>
                  <a:cubicBezTo>
                    <a:pt x="50" y="1550"/>
                    <a:pt x="10" y="384"/>
                    <a:pt x="298" y="192"/>
                  </a:cubicBezTo>
                  <a:cubicBezTo>
                    <a:pt x="586" y="0"/>
                    <a:pt x="1134" y="107"/>
                    <a:pt x="1354" y="8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2291635" y="2713218"/>
              <a:ext cx="1952217" cy="575043"/>
            </a:xfrm>
            <a:custGeom>
              <a:avLst/>
              <a:gdLst>
                <a:gd name="T0" fmla="*/ 0 w 2132"/>
                <a:gd name="T1" fmla="*/ 0 h 628"/>
                <a:gd name="T2" fmla="*/ 918421 w 2132"/>
                <a:gd name="T3" fmla="*/ 420294 h 628"/>
                <a:gd name="T4" fmla="*/ 1952217 w 2132"/>
                <a:gd name="T5" fmla="*/ 575043 h 628"/>
                <a:gd name="T6" fmla="*/ 0 60000 65536"/>
                <a:gd name="T7" fmla="*/ 0 60000 65536"/>
                <a:gd name="T8" fmla="*/ 0 60000 65536"/>
                <a:gd name="T9" fmla="*/ 0 w 2132"/>
                <a:gd name="T10" fmla="*/ 0 h 628"/>
                <a:gd name="T11" fmla="*/ 2132 w 2132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2" h="628">
                  <a:moveTo>
                    <a:pt x="0" y="0"/>
                  </a:moveTo>
                  <a:cubicBezTo>
                    <a:pt x="334" y="181"/>
                    <a:pt x="464" y="341"/>
                    <a:pt x="1003" y="459"/>
                  </a:cubicBezTo>
                  <a:cubicBezTo>
                    <a:pt x="1441" y="562"/>
                    <a:pt x="1792" y="614"/>
                    <a:pt x="2132" y="628"/>
                  </a:cubicBezTo>
                </a:path>
              </a:pathLst>
            </a:custGeom>
            <a:noFill/>
            <a:ln w="57150">
              <a:solidFill>
                <a:srgbClr val="66FF33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2303539" y="2721460"/>
              <a:ext cx="1887461" cy="337883"/>
            </a:xfrm>
            <a:custGeom>
              <a:avLst/>
              <a:gdLst>
                <a:gd name="T0" fmla="*/ 0 w 2061"/>
                <a:gd name="T1" fmla="*/ 0 h 369"/>
                <a:gd name="T2" fmla="*/ 896567 w 2061"/>
                <a:gd name="T3" fmla="*/ 321401 h 369"/>
                <a:gd name="T4" fmla="*/ 1887461 w 2061"/>
                <a:gd name="T5" fmla="*/ 326895 h 369"/>
                <a:gd name="T6" fmla="*/ 0 60000 65536"/>
                <a:gd name="T7" fmla="*/ 0 60000 65536"/>
                <a:gd name="T8" fmla="*/ 0 60000 65536"/>
                <a:gd name="T9" fmla="*/ 0 w 2061"/>
                <a:gd name="T10" fmla="*/ 0 h 369"/>
                <a:gd name="T11" fmla="*/ 2061 w 2061"/>
                <a:gd name="T12" fmla="*/ 369 h 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1" h="369">
                  <a:moveTo>
                    <a:pt x="0" y="0"/>
                  </a:moveTo>
                  <a:cubicBezTo>
                    <a:pt x="326" y="289"/>
                    <a:pt x="716" y="333"/>
                    <a:pt x="979" y="351"/>
                  </a:cubicBezTo>
                  <a:cubicBezTo>
                    <a:pt x="1336" y="369"/>
                    <a:pt x="1517" y="360"/>
                    <a:pt x="2061" y="35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303538" y="2731532"/>
              <a:ext cx="649953" cy="883251"/>
            </a:xfrm>
            <a:custGeom>
              <a:avLst/>
              <a:gdLst>
                <a:gd name="T0" fmla="*/ 0 w 2155"/>
                <a:gd name="T1" fmla="*/ 0 h 1352"/>
                <a:gd name="T2" fmla="*/ 1973277 w 2155"/>
                <a:gd name="T3" fmla="*/ 1237991 h 1352"/>
                <a:gd name="T4" fmla="*/ 0 60000 65536"/>
                <a:gd name="T5" fmla="*/ 0 60000 65536"/>
                <a:gd name="T6" fmla="*/ 0 w 2155"/>
                <a:gd name="T7" fmla="*/ 0 h 1352"/>
                <a:gd name="T8" fmla="*/ 2155 w 2155"/>
                <a:gd name="T9" fmla="*/ 1352 h 1352"/>
                <a:gd name="connsiteX0" fmla="*/ 0 w 4394"/>
                <a:gd name="connsiteY0" fmla="*/ 0 h 5551"/>
                <a:gd name="connsiteX1" fmla="*/ 4394 w 4394"/>
                <a:gd name="connsiteY1" fmla="*/ 5551 h 5551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8469"/>
                <a:gd name="connsiteY0" fmla="*/ 0 h 8813"/>
                <a:gd name="connsiteX1" fmla="*/ 8469 w 8469"/>
                <a:gd name="connsiteY1" fmla="*/ 8813 h 8813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7791"/>
                <a:gd name="connsiteY0" fmla="*/ 0 h 8653"/>
                <a:gd name="connsiteX1" fmla="*/ 7791 w 7791"/>
                <a:gd name="connsiteY1" fmla="*/ 8653 h 8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91" h="8653">
                  <a:moveTo>
                    <a:pt x="0" y="0"/>
                  </a:moveTo>
                  <a:cubicBezTo>
                    <a:pt x="1920" y="5968"/>
                    <a:pt x="3757" y="6636"/>
                    <a:pt x="7791" y="865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2300792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4253009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>
              <a:off x="3214634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906220" y="2109790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압력</a:t>
              </a:r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5026753" y="4211261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시간</a:t>
              </a:r>
            </a:p>
          </p:txBody>
        </p: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>
              <a:off x="1366840" y="4395254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lang="ko-KR" altLang="en-US" sz="1200" dirty="0">
                  <a:ea typeface="맑은 고딕" pitchFamily="50" charset="-127"/>
                </a:rPr>
                <a:t>가압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2429457" y="4381680"/>
              <a:ext cx="689635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안정화 </a:t>
              </a: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3400092" y="4389281"/>
              <a:ext cx="689635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테스트 </a:t>
              </a:r>
            </a:p>
          </p:txBody>
        </p:sp>
        <p:sp>
          <p:nvSpPr>
            <p:cNvPr id="27" name="Text Box 17"/>
            <p:cNvSpPr txBox="1">
              <a:spLocks noChangeArrowheads="1"/>
            </p:cNvSpPr>
            <p:nvPr/>
          </p:nvSpPr>
          <p:spPr bwMode="auto">
            <a:xfrm>
              <a:off x="446923" y="2598760"/>
              <a:ext cx="689635" cy="31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테스트 </a:t>
              </a:r>
            </a:p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압력</a:t>
              </a:r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4335419" y="2931084"/>
              <a:ext cx="1151315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마이너스 불량</a:t>
              </a:r>
              <a:endParaRPr kumimoji="0" lang="en-US" altLang="ko-KR" sz="1200" dirty="0">
                <a:ea typeface="맑은 고딕" pitchFamily="50" charset="-127"/>
              </a:endParaRPr>
            </a:p>
          </p:txBody>
        </p:sp>
        <p:sp>
          <p:nvSpPr>
            <p:cNvPr id="29" name="Text Box 19"/>
            <p:cNvSpPr txBox="1">
              <a:spLocks noChangeArrowheads="1"/>
            </p:cNvSpPr>
            <p:nvPr/>
          </p:nvSpPr>
          <p:spPr bwMode="auto">
            <a:xfrm>
              <a:off x="4335419" y="3194552"/>
              <a:ext cx="1109636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en-US" altLang="ko-KR" sz="1200" dirty="0">
                  <a:ea typeface="맑은 고딕" pitchFamily="50" charset="-127"/>
                </a:rPr>
                <a:t>OK </a:t>
              </a:r>
              <a:r>
                <a:rPr kumimoji="0" lang="ko-KR" altLang="en-US" sz="1200" dirty="0">
                  <a:ea typeface="맑은 고딕" pitchFamily="50" charset="-127"/>
                </a:rPr>
                <a:t>압력 곡선</a:t>
              </a:r>
            </a:p>
          </p:txBody>
        </p:sp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2379467" y="3692321"/>
              <a:ext cx="646352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 err="1">
                  <a:ea typeface="맑은 고딕" pitchFamily="50" charset="-127"/>
                </a:rPr>
                <a:t>대리크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4327432" y="4400745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배기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rot="16200000" flipH="1">
              <a:off x="2693014" y="2145314"/>
              <a:ext cx="571945" cy="50007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25"/>
            <p:cNvSpPr txBox="1">
              <a:spLocks noChangeArrowheads="1"/>
            </p:cNvSpPr>
            <p:nvPr/>
          </p:nvSpPr>
          <p:spPr bwMode="auto">
            <a:xfrm>
              <a:off x="2157386" y="1752600"/>
              <a:ext cx="1152918" cy="25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en-US" altLang="ko-KR">
                  <a:latin typeface="굴림" pitchFamily="50" charset="-127"/>
                </a:rPr>
                <a:t>△</a:t>
              </a:r>
              <a:r>
                <a:rPr kumimoji="0" lang="en-US" altLang="ko-KR">
                  <a:ea typeface="맑은 고딕" pitchFamily="50" charset="-127"/>
                </a:rPr>
                <a:t>P=zero</a:t>
              </a:r>
              <a:endParaRPr kumimoji="0" lang="ko-KR" altLang="en-US">
                <a:ea typeface="맑은 고딕" pitchFamily="50" charset="-127"/>
              </a:endParaRPr>
            </a:p>
          </p:txBody>
        </p:sp>
        <p:sp>
          <p:nvSpPr>
            <p:cNvPr id="34" name="Text Box 20"/>
            <p:cNvSpPr txBox="1">
              <a:spLocks noChangeArrowheads="1"/>
            </p:cNvSpPr>
            <p:nvPr/>
          </p:nvSpPr>
          <p:spPr bwMode="auto">
            <a:xfrm>
              <a:off x="3276652" y="3496212"/>
              <a:ext cx="1002230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lang="ko-KR" altLang="en-US" sz="1200" dirty="0">
                  <a:ea typeface="맑은 고딕" pitchFamily="50" charset="-127"/>
                </a:rPr>
                <a:t>합격</a:t>
              </a:r>
              <a:r>
                <a:rPr lang="en-US" altLang="ko-KR" sz="1200" dirty="0">
                  <a:ea typeface="맑은 고딕" pitchFamily="50" charset="-127"/>
                </a:rPr>
                <a:t>window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</p:grpSp>
      <p:cxnSp>
        <p:nvCxnSpPr>
          <p:cNvPr id="36" name="직선 연결선 35"/>
          <p:cNvCxnSpPr/>
          <p:nvPr/>
        </p:nvCxnSpPr>
        <p:spPr>
          <a:xfrm>
            <a:off x="3261852" y="4114800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76600" y="3581400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054581" y="4293096"/>
            <a:ext cx="21600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1054581" y="2996952"/>
            <a:ext cx="21600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7"/>
          <p:cNvSpPr>
            <a:spLocks/>
          </p:cNvSpPr>
          <p:nvPr/>
        </p:nvSpPr>
        <p:spPr bwMode="auto">
          <a:xfrm>
            <a:off x="2968119" y="4287013"/>
            <a:ext cx="226076" cy="995894"/>
          </a:xfrm>
          <a:custGeom>
            <a:avLst/>
            <a:gdLst>
              <a:gd name="T0" fmla="*/ 0 w 2155"/>
              <a:gd name="T1" fmla="*/ 0 h 1352"/>
              <a:gd name="T2" fmla="*/ 1973277 w 2155"/>
              <a:gd name="T3" fmla="*/ 1237991 h 1352"/>
              <a:gd name="T4" fmla="*/ 0 60000 65536"/>
              <a:gd name="T5" fmla="*/ 0 60000 65536"/>
              <a:gd name="T6" fmla="*/ 0 w 2155"/>
              <a:gd name="T7" fmla="*/ 0 h 1352"/>
              <a:gd name="T8" fmla="*/ 2155 w 2155"/>
              <a:gd name="T9" fmla="*/ 1352 h 1352"/>
              <a:gd name="connsiteX0" fmla="*/ 0 w 4394"/>
              <a:gd name="connsiteY0" fmla="*/ 0 h 5551"/>
              <a:gd name="connsiteX1" fmla="*/ 4394 w 4394"/>
              <a:gd name="connsiteY1" fmla="*/ 5551 h 5551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8469"/>
              <a:gd name="connsiteY0" fmla="*/ 0 h 8813"/>
              <a:gd name="connsiteX1" fmla="*/ 8469 w 8469"/>
              <a:gd name="connsiteY1" fmla="*/ 8813 h 8813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1966"/>
              <a:gd name="connsiteY0" fmla="*/ 0 h 2528"/>
              <a:gd name="connsiteX1" fmla="*/ 1966 w 1966"/>
              <a:gd name="connsiteY1" fmla="*/ 1243 h 2528"/>
              <a:gd name="connsiteX0" fmla="*/ 0 w 16130"/>
              <a:gd name="connsiteY0" fmla="*/ 0 h 60872"/>
              <a:gd name="connsiteX1" fmla="*/ 16130 w 16130"/>
              <a:gd name="connsiteY1" fmla="*/ 60872 h 60872"/>
              <a:gd name="connsiteX0" fmla="*/ 0 w 16130"/>
              <a:gd name="connsiteY0" fmla="*/ 0 h 60872"/>
              <a:gd name="connsiteX1" fmla="*/ 16130 w 16130"/>
              <a:gd name="connsiteY1" fmla="*/ 60872 h 60872"/>
              <a:gd name="connsiteX0" fmla="*/ 0 w 16130"/>
              <a:gd name="connsiteY0" fmla="*/ 0 h 60872"/>
              <a:gd name="connsiteX1" fmla="*/ 16130 w 16130"/>
              <a:gd name="connsiteY1" fmla="*/ 60872 h 6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130" h="60872">
                <a:moveTo>
                  <a:pt x="0" y="0"/>
                </a:moveTo>
                <a:cubicBezTo>
                  <a:pt x="7723" y="24274"/>
                  <a:pt x="2762" y="9595"/>
                  <a:pt x="16130" y="60872"/>
                </a:cubicBezTo>
              </a:path>
            </a:pathLst>
          </a:cu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none"/>
          <a:lstStyle/>
          <a:p>
            <a:pPr latinLnBrk="0"/>
            <a:endParaRPr kumimoji="0" lang="ko-KR" altLang="en-US" sz="1200">
              <a:ea typeface="맑은 고딕" pitchFamily="50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4190918" y="3820913"/>
            <a:ext cx="609682" cy="1461994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4190918" y="3489875"/>
            <a:ext cx="609682" cy="18042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내용 개체 틀 29"/>
          <p:cNvSpPr txBox="1">
            <a:spLocks/>
          </p:cNvSpPr>
          <p:nvPr/>
        </p:nvSpPr>
        <p:spPr>
          <a:xfrm>
            <a:off x="5539986" y="4104207"/>
            <a:ext cx="3566336" cy="184507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광범위한 적용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en-US" altLang="ko-KR" dirty="0"/>
              <a:t>Simple</a:t>
            </a:r>
            <a:r>
              <a:rPr lang="ko-KR" altLang="en-US" dirty="0"/>
              <a:t>한 회로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비용 절감</a:t>
            </a:r>
            <a:endParaRPr lang="en-US" altLang="ko-KR" dirty="0">
              <a:sym typeface="Wingdings" pitchFamily="2" charset="2"/>
            </a:endParaRPr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>
                <a:sym typeface="Wingdings" pitchFamily="2" charset="2"/>
              </a:rPr>
              <a:t>내구성 우수</a:t>
            </a:r>
            <a:endParaRPr lang="en-US" altLang="ko-KR" dirty="0"/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528844" y="4077072"/>
            <a:ext cx="535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0"/>
            <a:r>
              <a:rPr lang="ko-KR" altLang="en-US" sz="1200" dirty="0">
                <a:ea typeface="맑은 고딕" pitchFamily="50" charset="-127"/>
              </a:rPr>
              <a:t>최소</a:t>
            </a:r>
            <a:r>
              <a:rPr kumimoji="0" lang="ko-KR" altLang="en-US" sz="1200" dirty="0">
                <a:ea typeface="맑은 고딕" pitchFamily="50" charset="-127"/>
              </a:rPr>
              <a:t> </a:t>
            </a:r>
          </a:p>
          <a:p>
            <a:pPr latinLnBrk="0"/>
            <a:r>
              <a:rPr kumimoji="0" lang="ko-KR" altLang="en-US" sz="1200" dirty="0">
                <a:ea typeface="맑은 고딕" pitchFamily="50" charset="-127"/>
              </a:rPr>
              <a:t>압력</a:t>
            </a:r>
          </a:p>
        </p:txBody>
      </p:sp>
    </p:spTree>
    <p:extLst>
      <p:ext uri="{BB962C8B-B14F-4D97-AF65-F5344CB8AC3E}">
        <p14:creationId xmlns:p14="http://schemas.microsoft.com/office/powerpoint/2010/main" val="2390109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차압 감소 테스트</a:t>
            </a:r>
            <a:r>
              <a:rPr lang="en-US" altLang="ko-KR" sz="4000" dirty="0">
                <a:solidFill>
                  <a:schemeClr val="bg1"/>
                </a:solidFill>
              </a:rPr>
              <a:t>(DP)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5" name="내용 개체 틀 2"/>
          <p:cNvSpPr>
            <a:spLocks noGrp="1"/>
          </p:cNvSpPr>
          <p:nvPr>
            <p:ph sz="half" idx="1"/>
          </p:nvPr>
        </p:nvSpPr>
        <p:spPr>
          <a:xfrm>
            <a:off x="655389" y="1447800"/>
            <a:ext cx="4038600" cy="50292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고압</a:t>
            </a:r>
            <a:r>
              <a:rPr altLang="ko-KR" dirty="0"/>
              <a:t>(14bar </a:t>
            </a:r>
            <a:r>
              <a:rPr lang="ko-KR" altLang="en-US" dirty="0"/>
              <a:t>이상</a:t>
            </a:r>
            <a:r>
              <a:rPr altLang="ko-KR" dirty="0"/>
              <a:t>)</a:t>
            </a:r>
            <a:r>
              <a:rPr lang="ko-KR" altLang="en-US" dirty="0"/>
              <a:t>에서 발생하는 </a:t>
            </a:r>
            <a:r>
              <a:rPr altLang="ko-KR" dirty="0"/>
              <a:t>"</a:t>
            </a:r>
            <a:r>
              <a:rPr lang="ko-KR" altLang="en-US" dirty="0"/>
              <a:t>단열팽창</a:t>
            </a:r>
            <a:r>
              <a:rPr altLang="ko-KR" dirty="0"/>
              <a:t>" </a:t>
            </a:r>
            <a:r>
              <a:rPr lang="ko-KR" altLang="en-US" dirty="0"/>
              <a:t>효과를 최소화 하는데 효과적인 방법으로 개발됨</a:t>
            </a:r>
            <a:r>
              <a:rPr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Work to Work </a:t>
            </a:r>
            <a:r>
              <a:rPr lang="ko-KR" altLang="en-US" dirty="0"/>
              <a:t>테스트 가능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제품과 비교 볼륨을 매우 근접하게 </a:t>
            </a:r>
            <a:r>
              <a:rPr lang="ko-KR" altLang="en-US" dirty="0" err="1"/>
              <a:t>맞춰야함</a:t>
            </a:r>
            <a:r>
              <a:rPr altLang="ko-KR" dirty="0"/>
              <a:t>. </a:t>
            </a:r>
          </a:p>
          <a:p>
            <a:pPr lvl="1">
              <a:lnSpc>
                <a:spcPct val="120000"/>
              </a:lnSpc>
            </a:pPr>
            <a:r>
              <a:rPr altLang="ko-KR" dirty="0"/>
              <a:t>CTS</a:t>
            </a:r>
            <a:r>
              <a:rPr lang="ko-KR" altLang="en-US" dirty="0"/>
              <a:t>의 차압 방식은 이러한 단점을 해결하기 위하여 범위가 비교적 넓은 차압센서</a:t>
            </a:r>
            <a:r>
              <a:rPr altLang="ko-KR" dirty="0"/>
              <a:t>(2psi</a:t>
            </a:r>
            <a:r>
              <a:rPr lang="en-US" altLang="ko-KR" dirty="0"/>
              <a:t>d</a:t>
            </a:r>
            <a:r>
              <a:rPr altLang="ko-KR" dirty="0"/>
              <a:t>=</a:t>
            </a:r>
            <a:r>
              <a:rPr lang="ko-KR" altLang="en-US" dirty="0"/>
              <a:t>약</a:t>
            </a:r>
            <a:r>
              <a:rPr altLang="ko-KR" dirty="0"/>
              <a:t>14,000Pa)</a:t>
            </a:r>
            <a:r>
              <a:rPr lang="ko-KR" alt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사용하며</a:t>
            </a:r>
            <a:r>
              <a:rPr altLang="ko-KR" dirty="0"/>
              <a:t>, 0.002Pa(24bit A/D)</a:t>
            </a:r>
            <a:r>
              <a:rPr lang="ko-KR" altLang="en-US" dirty="0"/>
              <a:t>의 </a:t>
            </a:r>
            <a:r>
              <a:rPr lang="ko-KR" altLang="en-US" dirty="0" err="1"/>
              <a:t>분해능과</a:t>
            </a:r>
            <a:r>
              <a:rPr lang="ko-KR" altLang="en-US" dirty="0"/>
              <a:t> </a:t>
            </a:r>
            <a:r>
              <a:rPr altLang="ko-KR" dirty="0"/>
              <a:t>32bit </a:t>
            </a:r>
            <a:r>
              <a:rPr lang="ko-KR" altLang="en-US" dirty="0"/>
              <a:t>프로세서를 사용합니다</a:t>
            </a:r>
            <a:r>
              <a:rPr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외부 비교 체적의 엄격한 관리가 필요함</a:t>
            </a:r>
            <a:r>
              <a:rPr altLang="ko-KR" dirty="0"/>
              <a:t>.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846389" y="4663485"/>
            <a:ext cx="4038600" cy="1584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70189" y="1524000"/>
            <a:ext cx="4359275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5338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차압 감소 테스트</a:t>
            </a:r>
            <a:r>
              <a:rPr lang="en-US" altLang="ko-KR" sz="4000" dirty="0">
                <a:solidFill>
                  <a:schemeClr val="bg1"/>
                </a:solidFill>
              </a:rPr>
              <a:t>(DP) </a:t>
            </a:r>
            <a:r>
              <a:rPr lang="ko-KR" altLang="en-US" sz="4000" dirty="0">
                <a:solidFill>
                  <a:schemeClr val="bg1"/>
                </a:solidFill>
              </a:rPr>
              <a:t>압력 곡선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38" name="그룹 27"/>
          <p:cNvGrpSpPr>
            <a:grpSpLocks/>
          </p:cNvGrpSpPr>
          <p:nvPr/>
        </p:nvGrpSpPr>
        <p:grpSpPr bwMode="auto">
          <a:xfrm>
            <a:off x="641339" y="1600201"/>
            <a:ext cx="5096003" cy="4143633"/>
            <a:chOff x="423041" y="1752600"/>
            <a:chExt cx="5096171" cy="2865395"/>
          </a:xfrm>
        </p:grpSpPr>
        <p:sp>
          <p:nvSpPr>
            <p:cNvPr id="39" name="직사각형 38"/>
            <p:cNvSpPr/>
            <p:nvPr/>
          </p:nvSpPr>
          <p:spPr>
            <a:xfrm>
              <a:off x="3229026" y="2956869"/>
              <a:ext cx="1000158" cy="261540"/>
            </a:xfrm>
            <a:prstGeom prst="rect">
              <a:avLst/>
            </a:prstGeom>
            <a:blipFill>
              <a:blip r:embed="rId3" cstate="print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kumimoji="0" lang="ko-KR" altLang="en-US"/>
            </a:p>
          </p:txBody>
        </p:sp>
        <p:sp>
          <p:nvSpPr>
            <p:cNvPr id="40" name="Freeform 3"/>
            <p:cNvSpPr>
              <a:spLocks/>
            </p:cNvSpPr>
            <p:nvPr/>
          </p:nvSpPr>
          <p:spPr bwMode="auto">
            <a:xfrm>
              <a:off x="1054560" y="2390902"/>
              <a:ext cx="3904433" cy="1911011"/>
            </a:xfrm>
            <a:custGeom>
              <a:avLst/>
              <a:gdLst>
                <a:gd name="T0" fmla="*/ 0 w 4264"/>
                <a:gd name="T1" fmla="*/ 0 h 2087"/>
                <a:gd name="T2" fmla="*/ 0 w 4264"/>
                <a:gd name="T3" fmla="*/ 2147483647 h 2087"/>
                <a:gd name="T4" fmla="*/ 2147483647 w 4264"/>
                <a:gd name="T5" fmla="*/ 2147483647 h 2087"/>
                <a:gd name="T6" fmla="*/ 0 60000 65536"/>
                <a:gd name="T7" fmla="*/ 0 60000 65536"/>
                <a:gd name="T8" fmla="*/ 0 60000 65536"/>
                <a:gd name="T9" fmla="*/ 0 w 4264"/>
                <a:gd name="T10" fmla="*/ 0 h 2087"/>
                <a:gd name="T11" fmla="*/ 4264 w 4264"/>
                <a:gd name="T12" fmla="*/ 2087 h 20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64" h="2087">
                  <a:moveTo>
                    <a:pt x="0" y="0"/>
                  </a:moveTo>
                  <a:lnTo>
                    <a:pt x="0" y="2087"/>
                  </a:lnTo>
                  <a:lnTo>
                    <a:pt x="4264" y="2087"/>
                  </a:ln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41" name="Freeform 4"/>
            <p:cNvSpPr>
              <a:spLocks/>
            </p:cNvSpPr>
            <p:nvPr/>
          </p:nvSpPr>
          <p:spPr bwMode="auto">
            <a:xfrm>
              <a:off x="1054560" y="2633555"/>
              <a:ext cx="1239822" cy="1668358"/>
            </a:xfrm>
            <a:custGeom>
              <a:avLst/>
              <a:gdLst>
                <a:gd name="T0" fmla="*/ 0 w 1354"/>
                <a:gd name="T1" fmla="*/ 2147483647 h 1822"/>
                <a:gd name="T2" fmla="*/ 2147483647 w 1354"/>
                <a:gd name="T3" fmla="*/ 2147483647 h 1822"/>
                <a:gd name="T4" fmla="*/ 2147483647 w 1354"/>
                <a:gd name="T5" fmla="*/ 2147483647 h 1822"/>
                <a:gd name="T6" fmla="*/ 0 60000 65536"/>
                <a:gd name="T7" fmla="*/ 0 60000 65536"/>
                <a:gd name="T8" fmla="*/ 0 60000 65536"/>
                <a:gd name="T9" fmla="*/ 0 w 1354"/>
                <a:gd name="T10" fmla="*/ 0 h 1822"/>
                <a:gd name="T11" fmla="*/ 1354 w 1354"/>
                <a:gd name="T12" fmla="*/ 1822 h 18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4" h="1822">
                  <a:moveTo>
                    <a:pt x="0" y="1822"/>
                  </a:moveTo>
                  <a:cubicBezTo>
                    <a:pt x="50" y="1550"/>
                    <a:pt x="10" y="384"/>
                    <a:pt x="298" y="192"/>
                  </a:cubicBezTo>
                  <a:cubicBezTo>
                    <a:pt x="586" y="0"/>
                    <a:pt x="1134" y="107"/>
                    <a:pt x="1354" y="8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42" name="Freeform 5"/>
            <p:cNvSpPr>
              <a:spLocks/>
            </p:cNvSpPr>
            <p:nvPr/>
          </p:nvSpPr>
          <p:spPr bwMode="auto">
            <a:xfrm>
              <a:off x="2350644" y="2774411"/>
              <a:ext cx="1863674" cy="289452"/>
            </a:xfrm>
            <a:custGeom>
              <a:avLst/>
              <a:gdLst>
                <a:gd name="T0" fmla="*/ 0 w 2132"/>
                <a:gd name="T1" fmla="*/ 0 h 628"/>
                <a:gd name="T2" fmla="*/ 918421 w 2132"/>
                <a:gd name="T3" fmla="*/ 420294 h 628"/>
                <a:gd name="T4" fmla="*/ 1952217 w 2132"/>
                <a:gd name="T5" fmla="*/ 575043 h 628"/>
                <a:gd name="T6" fmla="*/ 0 60000 65536"/>
                <a:gd name="T7" fmla="*/ 0 60000 65536"/>
                <a:gd name="T8" fmla="*/ 0 60000 65536"/>
                <a:gd name="T9" fmla="*/ 0 w 2132"/>
                <a:gd name="T10" fmla="*/ 0 h 628"/>
                <a:gd name="T11" fmla="*/ 2132 w 2132"/>
                <a:gd name="T12" fmla="*/ 628 h 628"/>
                <a:gd name="connsiteX0" fmla="*/ 0 w 9924"/>
                <a:gd name="connsiteY0" fmla="*/ 0 h 5034"/>
                <a:gd name="connsiteX1" fmla="*/ 4629 w 9924"/>
                <a:gd name="connsiteY1" fmla="*/ 2343 h 5034"/>
                <a:gd name="connsiteX2" fmla="*/ 9924 w 9924"/>
                <a:gd name="connsiteY2" fmla="*/ 5034 h 5034"/>
                <a:gd name="connsiteX0" fmla="*/ 0 w 10000"/>
                <a:gd name="connsiteY0" fmla="*/ 0 h 10000"/>
                <a:gd name="connsiteX1" fmla="*/ 4664 w 10000"/>
                <a:gd name="connsiteY1" fmla="*/ 4654 h 10000"/>
                <a:gd name="connsiteX2" fmla="*/ 10000 w 10000"/>
                <a:gd name="connsiteY2" fmla="*/ 10000 h 10000"/>
                <a:gd name="connsiteX0" fmla="*/ 0 w 10000"/>
                <a:gd name="connsiteY0" fmla="*/ 0 h 10000"/>
                <a:gd name="connsiteX1" fmla="*/ 4664 w 10000"/>
                <a:gd name="connsiteY1" fmla="*/ 4654 h 10000"/>
                <a:gd name="connsiteX2" fmla="*/ 10000 w 10000"/>
                <a:gd name="connsiteY2" fmla="*/ 10000 h 10000"/>
                <a:gd name="connsiteX0" fmla="*/ 0 w 9772"/>
                <a:gd name="connsiteY0" fmla="*/ 0 h 17751"/>
                <a:gd name="connsiteX1" fmla="*/ 4436 w 9772"/>
                <a:gd name="connsiteY1" fmla="*/ 12405 h 17751"/>
                <a:gd name="connsiteX2" fmla="*/ 9772 w 9772"/>
                <a:gd name="connsiteY2" fmla="*/ 17751 h 17751"/>
                <a:gd name="connsiteX0" fmla="*/ 0 w 10000"/>
                <a:gd name="connsiteY0" fmla="*/ 0 h 10000"/>
                <a:gd name="connsiteX1" fmla="*/ 4618 w 10000"/>
                <a:gd name="connsiteY1" fmla="*/ 1232 h 10000"/>
                <a:gd name="connsiteX2" fmla="*/ 10000 w 10000"/>
                <a:gd name="connsiteY2" fmla="*/ 10000 h 10000"/>
                <a:gd name="connsiteX0" fmla="*/ 0 w 9844"/>
                <a:gd name="connsiteY0" fmla="*/ 0 h 5633"/>
                <a:gd name="connsiteX1" fmla="*/ 4618 w 9844"/>
                <a:gd name="connsiteY1" fmla="*/ 1232 h 5633"/>
                <a:gd name="connsiteX2" fmla="*/ 9844 w 9844"/>
                <a:gd name="connsiteY2" fmla="*/ 5633 h 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44" h="5633">
                  <a:moveTo>
                    <a:pt x="0" y="0"/>
                  </a:moveTo>
                  <a:cubicBezTo>
                    <a:pt x="2707" y="1836"/>
                    <a:pt x="2711" y="718"/>
                    <a:pt x="4618" y="1232"/>
                  </a:cubicBezTo>
                  <a:cubicBezTo>
                    <a:pt x="6736" y="3068"/>
                    <a:pt x="8200" y="5383"/>
                    <a:pt x="9844" y="5633"/>
                  </a:cubicBezTo>
                </a:path>
              </a:pathLst>
            </a:custGeom>
            <a:noFill/>
            <a:ln w="57150">
              <a:solidFill>
                <a:srgbClr val="66FF33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43" name="Freeform 6"/>
            <p:cNvSpPr>
              <a:spLocks/>
            </p:cNvSpPr>
            <p:nvPr/>
          </p:nvSpPr>
          <p:spPr bwMode="auto">
            <a:xfrm>
              <a:off x="2303540" y="2762254"/>
              <a:ext cx="1961072" cy="56220"/>
            </a:xfrm>
            <a:custGeom>
              <a:avLst/>
              <a:gdLst>
                <a:gd name="T0" fmla="*/ 0 w 2061"/>
                <a:gd name="T1" fmla="*/ 0 h 369"/>
                <a:gd name="T2" fmla="*/ 896567 w 2061"/>
                <a:gd name="T3" fmla="*/ 321401 h 369"/>
                <a:gd name="T4" fmla="*/ 1887461 w 2061"/>
                <a:gd name="T5" fmla="*/ 326895 h 369"/>
                <a:gd name="T6" fmla="*/ 0 60000 65536"/>
                <a:gd name="T7" fmla="*/ 0 60000 65536"/>
                <a:gd name="T8" fmla="*/ 0 60000 65536"/>
                <a:gd name="T9" fmla="*/ 0 w 2061"/>
                <a:gd name="T10" fmla="*/ 0 h 369"/>
                <a:gd name="T11" fmla="*/ 2061 w 2061"/>
                <a:gd name="T12" fmla="*/ 369 h 369"/>
                <a:gd name="connsiteX0" fmla="*/ 0 w 10000"/>
                <a:gd name="connsiteY0" fmla="*/ 0 h 3839"/>
                <a:gd name="connsiteX1" fmla="*/ 4750 w 10000"/>
                <a:gd name="connsiteY1" fmla="*/ 1664 h 3839"/>
                <a:gd name="connsiteX2" fmla="*/ 10000 w 10000"/>
                <a:gd name="connsiteY2" fmla="*/ 1827 h 3839"/>
                <a:gd name="connsiteX0" fmla="*/ 0 w 10000"/>
                <a:gd name="connsiteY0" fmla="*/ 0 h 5105"/>
                <a:gd name="connsiteX1" fmla="*/ 4750 w 10000"/>
                <a:gd name="connsiteY1" fmla="*/ 4334 h 5105"/>
                <a:gd name="connsiteX2" fmla="*/ 10000 w 10000"/>
                <a:gd name="connsiteY2" fmla="*/ 4759 h 5105"/>
                <a:gd name="connsiteX0" fmla="*/ 0 w 10000"/>
                <a:gd name="connsiteY0" fmla="*/ 0 h 18113"/>
                <a:gd name="connsiteX1" fmla="*/ 4906 w 10000"/>
                <a:gd name="connsiteY1" fmla="*/ 17731 h 18113"/>
                <a:gd name="connsiteX2" fmla="*/ 10000 w 10000"/>
                <a:gd name="connsiteY2" fmla="*/ 9322 h 18113"/>
                <a:gd name="connsiteX0" fmla="*/ 0 w 10000"/>
                <a:gd name="connsiteY0" fmla="*/ 0 h 18113"/>
                <a:gd name="connsiteX1" fmla="*/ 4906 w 10000"/>
                <a:gd name="connsiteY1" fmla="*/ 17731 h 18113"/>
                <a:gd name="connsiteX2" fmla="*/ 10000 w 10000"/>
                <a:gd name="connsiteY2" fmla="*/ 9322 h 18113"/>
                <a:gd name="connsiteX0" fmla="*/ 0 w 10000"/>
                <a:gd name="connsiteY0" fmla="*/ 0 h 18233"/>
                <a:gd name="connsiteX1" fmla="*/ 4906 w 10000"/>
                <a:gd name="connsiteY1" fmla="*/ 17731 h 18233"/>
                <a:gd name="connsiteX2" fmla="*/ 10000 w 10000"/>
                <a:gd name="connsiteY2" fmla="*/ 9322 h 18233"/>
                <a:gd name="connsiteX0" fmla="*/ 0 w 10000"/>
                <a:gd name="connsiteY0" fmla="*/ 0 h 17731"/>
                <a:gd name="connsiteX1" fmla="*/ 4906 w 10000"/>
                <a:gd name="connsiteY1" fmla="*/ 17731 h 17731"/>
                <a:gd name="connsiteX2" fmla="*/ 10000 w 10000"/>
                <a:gd name="connsiteY2" fmla="*/ 9322 h 17731"/>
                <a:gd name="connsiteX0" fmla="*/ 0 w 10000"/>
                <a:gd name="connsiteY0" fmla="*/ 0 h 51615"/>
                <a:gd name="connsiteX1" fmla="*/ 4906 w 10000"/>
                <a:gd name="connsiteY1" fmla="*/ 51615 h 51615"/>
                <a:gd name="connsiteX2" fmla="*/ 10000 w 10000"/>
                <a:gd name="connsiteY2" fmla="*/ 43206 h 51615"/>
                <a:gd name="connsiteX0" fmla="*/ 0 w 10000"/>
                <a:gd name="connsiteY0" fmla="*/ 0 h 43420"/>
                <a:gd name="connsiteX1" fmla="*/ 4672 w 10000"/>
                <a:gd name="connsiteY1" fmla="*/ 8490 h 43420"/>
                <a:gd name="connsiteX2" fmla="*/ 10000 w 10000"/>
                <a:gd name="connsiteY2" fmla="*/ 43206 h 43420"/>
                <a:gd name="connsiteX0" fmla="*/ 0 w 10234"/>
                <a:gd name="connsiteY0" fmla="*/ 0 h 19072"/>
                <a:gd name="connsiteX1" fmla="*/ 4672 w 10234"/>
                <a:gd name="connsiteY1" fmla="*/ 8490 h 19072"/>
                <a:gd name="connsiteX2" fmla="*/ 10234 w 10234"/>
                <a:gd name="connsiteY2" fmla="*/ 18563 h 19072"/>
                <a:gd name="connsiteX0" fmla="*/ 0 w 10390"/>
                <a:gd name="connsiteY0" fmla="*/ 0 h 8490"/>
                <a:gd name="connsiteX1" fmla="*/ 4672 w 10390"/>
                <a:gd name="connsiteY1" fmla="*/ 8490 h 8490"/>
                <a:gd name="connsiteX2" fmla="*/ 10390 w 10390"/>
                <a:gd name="connsiteY2" fmla="*/ 6242 h 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90" h="8490">
                  <a:moveTo>
                    <a:pt x="0" y="0"/>
                  </a:moveTo>
                  <a:cubicBezTo>
                    <a:pt x="2832" y="12239"/>
                    <a:pt x="3396" y="6000"/>
                    <a:pt x="4672" y="8490"/>
                  </a:cubicBezTo>
                  <a:cubicBezTo>
                    <a:pt x="6638" y="6360"/>
                    <a:pt x="8142" y="9736"/>
                    <a:pt x="10390" y="624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44" name="Freeform 7"/>
            <p:cNvSpPr>
              <a:spLocks/>
            </p:cNvSpPr>
            <p:nvPr/>
          </p:nvSpPr>
          <p:spPr bwMode="auto">
            <a:xfrm>
              <a:off x="2303539" y="2731532"/>
              <a:ext cx="634735" cy="582651"/>
            </a:xfrm>
            <a:custGeom>
              <a:avLst/>
              <a:gdLst>
                <a:gd name="T0" fmla="*/ 0 w 2155"/>
                <a:gd name="T1" fmla="*/ 0 h 1352"/>
                <a:gd name="T2" fmla="*/ 1973277 w 2155"/>
                <a:gd name="T3" fmla="*/ 1237991 h 1352"/>
                <a:gd name="T4" fmla="*/ 0 60000 65536"/>
                <a:gd name="T5" fmla="*/ 0 60000 65536"/>
                <a:gd name="T6" fmla="*/ 0 w 2155"/>
                <a:gd name="T7" fmla="*/ 0 h 1352"/>
                <a:gd name="T8" fmla="*/ 2155 w 2155"/>
                <a:gd name="T9" fmla="*/ 1352 h 1352"/>
                <a:gd name="connsiteX0" fmla="*/ 0 w 4394"/>
                <a:gd name="connsiteY0" fmla="*/ 0 h 5551"/>
                <a:gd name="connsiteX1" fmla="*/ 4394 w 4394"/>
                <a:gd name="connsiteY1" fmla="*/ 5551 h 5551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8469"/>
                <a:gd name="connsiteY0" fmla="*/ 0 h 8813"/>
                <a:gd name="connsiteX1" fmla="*/ 8469 w 8469"/>
                <a:gd name="connsiteY1" fmla="*/ 8813 h 8813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7791"/>
                <a:gd name="connsiteY0" fmla="*/ 0 h 8653"/>
                <a:gd name="connsiteX1" fmla="*/ 7791 w 7791"/>
                <a:gd name="connsiteY1" fmla="*/ 8653 h 8653"/>
                <a:gd name="connsiteX0" fmla="*/ 0 w 11547"/>
                <a:gd name="connsiteY0" fmla="*/ 0 h 6108"/>
                <a:gd name="connsiteX1" fmla="*/ 11547 w 11547"/>
                <a:gd name="connsiteY1" fmla="*/ 6108 h 6108"/>
                <a:gd name="connsiteX0" fmla="*/ 0 w 10000"/>
                <a:gd name="connsiteY0" fmla="*/ 0 h 10000"/>
                <a:gd name="connsiteX1" fmla="*/ 10000 w 10000"/>
                <a:gd name="connsiteY1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6376" y="8743"/>
                    <a:pt x="5516" y="6184"/>
                    <a:pt x="10000" y="1000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2300792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>
              <a:off x="4253009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>
              <a:off x="3214634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1" name="Text Box 11"/>
            <p:cNvSpPr txBox="1">
              <a:spLocks noChangeArrowheads="1"/>
            </p:cNvSpPr>
            <p:nvPr/>
          </p:nvSpPr>
          <p:spPr bwMode="auto">
            <a:xfrm>
              <a:off x="906220" y="2109790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압력</a:t>
              </a:r>
            </a:p>
          </p:txBody>
        </p:sp>
        <p:sp>
          <p:nvSpPr>
            <p:cNvPr id="52" name="Text Box 12"/>
            <p:cNvSpPr txBox="1">
              <a:spLocks noChangeArrowheads="1"/>
            </p:cNvSpPr>
            <p:nvPr/>
          </p:nvSpPr>
          <p:spPr bwMode="auto">
            <a:xfrm>
              <a:off x="5026753" y="4211261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시간</a:t>
              </a:r>
            </a:p>
          </p:txBody>
        </p:sp>
        <p:sp>
          <p:nvSpPr>
            <p:cNvPr id="53" name="Text Box 13"/>
            <p:cNvSpPr txBox="1">
              <a:spLocks noChangeArrowheads="1"/>
            </p:cNvSpPr>
            <p:nvPr/>
          </p:nvSpPr>
          <p:spPr bwMode="auto">
            <a:xfrm>
              <a:off x="1220297" y="4426445"/>
              <a:ext cx="1151315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압력충진 시간</a:t>
              </a:r>
            </a:p>
          </p:txBody>
        </p:sp>
        <p:sp>
          <p:nvSpPr>
            <p:cNvPr id="54" name="Text Box 14"/>
            <p:cNvSpPr txBox="1">
              <a:spLocks noChangeArrowheads="1"/>
            </p:cNvSpPr>
            <p:nvPr/>
          </p:nvSpPr>
          <p:spPr bwMode="auto">
            <a:xfrm>
              <a:off x="2383203" y="4426445"/>
              <a:ext cx="84352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lang="ko-KR" altLang="en-US" sz="1200" dirty="0">
                  <a:ea typeface="맑은 고딕" pitchFamily="50" charset="-127"/>
                </a:rPr>
                <a:t>평형</a:t>
              </a:r>
              <a:r>
                <a:rPr kumimoji="0" lang="ko-KR" altLang="en-US" sz="1200" dirty="0">
                  <a:ea typeface="맑은 고딕" pitchFamily="50" charset="-127"/>
                </a:rPr>
                <a:t> 시간</a:t>
              </a:r>
            </a:p>
          </p:txBody>
        </p:sp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3339166" y="4426445"/>
              <a:ext cx="997422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테스트 시간</a:t>
              </a:r>
            </a:p>
          </p:txBody>
        </p:sp>
        <p:sp>
          <p:nvSpPr>
            <p:cNvPr id="56" name="Text Box 17"/>
            <p:cNvSpPr txBox="1">
              <a:spLocks noChangeArrowheads="1"/>
            </p:cNvSpPr>
            <p:nvPr/>
          </p:nvSpPr>
          <p:spPr bwMode="auto">
            <a:xfrm>
              <a:off x="423041" y="2569674"/>
              <a:ext cx="689635" cy="31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테스트 </a:t>
              </a:r>
            </a:p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압력</a:t>
              </a: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4335419" y="2931084"/>
              <a:ext cx="1151315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마이너스 불량</a:t>
              </a:r>
              <a:endParaRPr kumimoji="0" lang="en-US" altLang="ko-KR" sz="1200" dirty="0">
                <a:ea typeface="맑은 고딕" pitchFamily="50" charset="-127"/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4335419" y="3194552"/>
              <a:ext cx="1109636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en-US" altLang="ko-KR" sz="1200" dirty="0">
                  <a:ea typeface="맑은 고딕" pitchFamily="50" charset="-127"/>
                </a:rPr>
                <a:t>OK </a:t>
              </a:r>
              <a:r>
                <a:rPr kumimoji="0" lang="ko-KR" altLang="en-US" sz="1200" dirty="0">
                  <a:ea typeface="맑은 고딕" pitchFamily="50" charset="-127"/>
                </a:rPr>
                <a:t>압력 곡선</a:t>
              </a: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2373324" y="3410659"/>
              <a:ext cx="646352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 err="1">
                  <a:ea typeface="맑은 고딕" pitchFamily="50" charset="-127"/>
                </a:rPr>
                <a:t>대리크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4380287" y="4426445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배기</a:t>
              </a: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 rot="16200000" flipH="1">
              <a:off x="2693014" y="2145314"/>
              <a:ext cx="571945" cy="50007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25"/>
            <p:cNvSpPr txBox="1">
              <a:spLocks noChangeArrowheads="1"/>
            </p:cNvSpPr>
            <p:nvPr/>
          </p:nvSpPr>
          <p:spPr bwMode="auto">
            <a:xfrm>
              <a:off x="1795954" y="1752600"/>
              <a:ext cx="3477028" cy="361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ko-KR" altLang="en-US" sz="1400">
                  <a:ea typeface="맑은 고딕" pitchFamily="50" charset="-127"/>
                </a:rPr>
                <a:t>평형구간까지 제품과 비교체적은 연결 되어 있음</a:t>
              </a:r>
              <a:endParaRPr kumimoji="0" lang="ko-KR" altLang="en-US" sz="1400" dirty="0">
                <a:ea typeface="맑은 고딕" pitchFamily="50" charset="-127"/>
              </a:endParaRPr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3276652" y="3386102"/>
              <a:ext cx="1002230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lang="ko-KR" altLang="en-US" sz="1200" dirty="0">
                  <a:ea typeface="맑은 고딕" pitchFamily="50" charset="-127"/>
                </a:rPr>
                <a:t>합격</a:t>
              </a:r>
              <a:r>
                <a:rPr lang="en-US" altLang="ko-KR" sz="1200" dirty="0">
                  <a:ea typeface="맑은 고딕" pitchFamily="50" charset="-127"/>
                </a:rPr>
                <a:t>window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</p:grpSp>
      <p:cxnSp>
        <p:nvCxnSpPr>
          <p:cNvPr id="64" name="직선 연결선 63"/>
          <p:cNvCxnSpPr/>
          <p:nvPr/>
        </p:nvCxnSpPr>
        <p:spPr>
          <a:xfrm>
            <a:off x="1284934" y="3858399"/>
            <a:ext cx="21600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1272837" y="2961721"/>
            <a:ext cx="21600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reeform 7"/>
          <p:cNvSpPr>
            <a:spLocks/>
          </p:cNvSpPr>
          <p:nvPr/>
        </p:nvSpPr>
        <p:spPr bwMode="auto">
          <a:xfrm>
            <a:off x="3174330" y="3858398"/>
            <a:ext cx="322625" cy="1424509"/>
          </a:xfrm>
          <a:custGeom>
            <a:avLst/>
            <a:gdLst>
              <a:gd name="T0" fmla="*/ 0 w 2155"/>
              <a:gd name="T1" fmla="*/ 0 h 1352"/>
              <a:gd name="T2" fmla="*/ 1973277 w 2155"/>
              <a:gd name="T3" fmla="*/ 1237991 h 1352"/>
              <a:gd name="T4" fmla="*/ 0 60000 65536"/>
              <a:gd name="T5" fmla="*/ 0 60000 65536"/>
              <a:gd name="T6" fmla="*/ 0 w 2155"/>
              <a:gd name="T7" fmla="*/ 0 h 1352"/>
              <a:gd name="T8" fmla="*/ 2155 w 2155"/>
              <a:gd name="T9" fmla="*/ 1352 h 1352"/>
              <a:gd name="connsiteX0" fmla="*/ 0 w 4394"/>
              <a:gd name="connsiteY0" fmla="*/ 0 h 5551"/>
              <a:gd name="connsiteX1" fmla="*/ 4394 w 4394"/>
              <a:gd name="connsiteY1" fmla="*/ 5551 h 5551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8469"/>
              <a:gd name="connsiteY0" fmla="*/ 0 h 8813"/>
              <a:gd name="connsiteX1" fmla="*/ 8469 w 8469"/>
              <a:gd name="connsiteY1" fmla="*/ 8813 h 8813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10000"/>
              <a:gd name="connsiteY0" fmla="*/ 0 h 10000"/>
              <a:gd name="connsiteX1" fmla="*/ 10000 w 10000"/>
              <a:gd name="connsiteY1" fmla="*/ 10000 h 10000"/>
              <a:gd name="connsiteX0" fmla="*/ 0 w 1966"/>
              <a:gd name="connsiteY0" fmla="*/ 0 h 2528"/>
              <a:gd name="connsiteX1" fmla="*/ 1966 w 1966"/>
              <a:gd name="connsiteY1" fmla="*/ 1243 h 2528"/>
              <a:gd name="connsiteX0" fmla="*/ 0 w 16130"/>
              <a:gd name="connsiteY0" fmla="*/ 0 h 60872"/>
              <a:gd name="connsiteX1" fmla="*/ 16130 w 16130"/>
              <a:gd name="connsiteY1" fmla="*/ 60872 h 60872"/>
              <a:gd name="connsiteX0" fmla="*/ 0 w 16130"/>
              <a:gd name="connsiteY0" fmla="*/ 0 h 60872"/>
              <a:gd name="connsiteX1" fmla="*/ 16130 w 16130"/>
              <a:gd name="connsiteY1" fmla="*/ 60872 h 60872"/>
              <a:gd name="connsiteX0" fmla="*/ 0 w 16130"/>
              <a:gd name="connsiteY0" fmla="*/ 0 h 60872"/>
              <a:gd name="connsiteX1" fmla="*/ 16130 w 16130"/>
              <a:gd name="connsiteY1" fmla="*/ 60872 h 6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130" h="60872">
                <a:moveTo>
                  <a:pt x="0" y="0"/>
                </a:moveTo>
                <a:cubicBezTo>
                  <a:pt x="7723" y="24274"/>
                  <a:pt x="2762" y="9595"/>
                  <a:pt x="16130" y="60872"/>
                </a:cubicBezTo>
              </a:path>
            </a:pathLst>
          </a:cu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none"/>
          <a:lstStyle/>
          <a:p>
            <a:pPr latinLnBrk="0"/>
            <a:endParaRPr kumimoji="0" lang="ko-KR" altLang="en-US" sz="1200">
              <a:ea typeface="맑은 고딕" pitchFamily="50" charset="-127"/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4432491" y="3496412"/>
            <a:ext cx="586365" cy="1786495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4453340" y="3100905"/>
            <a:ext cx="565516" cy="21932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내용 개체 틀 29"/>
          <p:cNvSpPr txBox="1">
            <a:spLocks/>
          </p:cNvSpPr>
          <p:nvPr/>
        </p:nvSpPr>
        <p:spPr>
          <a:xfrm>
            <a:off x="5715009" y="1801814"/>
            <a:ext cx="3782360" cy="23198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–"/>
              <a:defRPr sz="18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»"/>
              <a:defRPr sz="14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공정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충진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테스트 압력 가압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평형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제품과 비교체적 연결</a:t>
            </a:r>
            <a:endParaRPr lang="en-US" altLang="ko-KR" dirty="0">
              <a:sym typeface="Wingdings" pitchFamily="2" charset="2"/>
            </a:endParaRPr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>
                <a:sym typeface="Wingdings" pitchFamily="2" charset="2"/>
              </a:rPr>
              <a:t>테스트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제품과 비교체적 단절</a:t>
            </a:r>
            <a:r>
              <a:rPr lang="en-US" altLang="ko-KR" dirty="0">
                <a:sym typeface="Wingdings" pitchFamily="2" charset="2"/>
              </a:rPr>
              <a:t>, </a:t>
            </a:r>
            <a:r>
              <a:rPr lang="en-US" altLang="ko-KR" dirty="0"/>
              <a:t>∆P</a:t>
            </a:r>
            <a:r>
              <a:rPr lang="ko-KR" altLang="en-US" dirty="0"/>
              <a:t>측정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배기 시간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압력 배기</a:t>
            </a:r>
            <a:endParaRPr lang="en-US" altLang="ko-KR" dirty="0"/>
          </a:p>
        </p:txBody>
      </p:sp>
      <p:sp>
        <p:nvSpPr>
          <p:cNvPr id="71" name="Text Box 17"/>
          <p:cNvSpPr txBox="1">
            <a:spLocks noChangeArrowheads="1"/>
          </p:cNvSpPr>
          <p:nvPr/>
        </p:nvSpPr>
        <p:spPr bwMode="auto">
          <a:xfrm>
            <a:off x="751034" y="3659964"/>
            <a:ext cx="535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atinLnBrk="0"/>
            <a:r>
              <a:rPr lang="ko-KR" altLang="en-US" sz="1200" dirty="0">
                <a:ea typeface="맑은 고딕" pitchFamily="50" charset="-127"/>
              </a:rPr>
              <a:t>최소</a:t>
            </a:r>
            <a:r>
              <a:rPr kumimoji="0" lang="ko-KR" altLang="en-US" sz="1200" dirty="0">
                <a:ea typeface="맑은 고딕" pitchFamily="50" charset="-127"/>
              </a:rPr>
              <a:t> </a:t>
            </a:r>
          </a:p>
          <a:p>
            <a:pPr latinLnBrk="0"/>
            <a:r>
              <a:rPr kumimoji="0" lang="ko-KR" altLang="en-US" sz="1200" dirty="0">
                <a:ea typeface="맑은 고딕" pitchFamily="50" charset="-127"/>
              </a:rPr>
              <a:t>압력</a:t>
            </a:r>
          </a:p>
        </p:txBody>
      </p:sp>
      <p:sp>
        <p:nvSpPr>
          <p:cNvPr id="72" name="내용 개체 틀 29"/>
          <p:cNvSpPr txBox="1">
            <a:spLocks/>
          </p:cNvSpPr>
          <p:nvPr/>
        </p:nvSpPr>
        <p:spPr>
          <a:xfrm>
            <a:off x="5715009" y="4394447"/>
            <a:ext cx="3782360" cy="16268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–"/>
              <a:defRPr sz="18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»"/>
              <a:defRPr sz="1400" kern="1200">
                <a:solidFill>
                  <a:schemeClr val="accent5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en-US" altLang="ko-KR" dirty="0"/>
              <a:t>Part to Part </a:t>
            </a:r>
            <a:r>
              <a:rPr lang="ko-KR" altLang="en-US" dirty="0"/>
              <a:t>테스트 가능</a:t>
            </a:r>
            <a:endParaRPr lang="en-US" altLang="ko-KR" dirty="0"/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>
                <a:sym typeface="Wingdings" pitchFamily="2" charset="2"/>
              </a:rPr>
              <a:t>두 개의 </a:t>
            </a:r>
            <a:r>
              <a:rPr lang="en-US" altLang="ko-KR" dirty="0">
                <a:sym typeface="Wingdings" pitchFamily="2" charset="2"/>
              </a:rPr>
              <a:t>Transducer(</a:t>
            </a:r>
            <a:r>
              <a:rPr lang="ko-KR" altLang="en-US" dirty="0">
                <a:sym typeface="Wingdings" pitchFamily="2" charset="2"/>
              </a:rPr>
              <a:t>센서</a:t>
            </a:r>
            <a:r>
              <a:rPr lang="en-US" altLang="ko-KR" dirty="0">
                <a:sym typeface="Wingdings" pitchFamily="2" charset="2"/>
              </a:rPr>
              <a:t>)</a:t>
            </a:r>
          </a:p>
          <a:p>
            <a:pPr lvl="1"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>
                <a:sym typeface="Wingdings" pitchFamily="2" charset="2"/>
              </a:rPr>
              <a:t>비교 체적 관리 중요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7357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Mass Flow Leak Test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5" name="내용 개체 틀 2"/>
          <p:cNvSpPr>
            <a:spLocks noGrp="1"/>
          </p:cNvSpPr>
          <p:nvPr>
            <p:ph sz="half" idx="1"/>
          </p:nvPr>
        </p:nvSpPr>
        <p:spPr>
          <a:xfrm>
            <a:off x="658688" y="1678712"/>
            <a:ext cx="4038600" cy="46786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테스트</a:t>
            </a:r>
            <a:r>
              <a:rPr altLang="ko-KR" dirty="0"/>
              <a:t> </a:t>
            </a:r>
            <a:r>
              <a:rPr lang="ko-KR" altLang="en-US" dirty="0"/>
              <a:t>회로를 완전히 차단하지 않는 </a:t>
            </a:r>
            <a:r>
              <a:rPr altLang="ko-KR" dirty="0"/>
              <a:t>Direct Mass </a:t>
            </a:r>
            <a:r>
              <a:rPr lang="en-US" altLang="ko-KR" dirty="0"/>
              <a:t>F</a:t>
            </a:r>
            <a:r>
              <a:rPr altLang="ko-KR" dirty="0"/>
              <a:t>low </a:t>
            </a:r>
            <a:r>
              <a:rPr lang="ko-KR" altLang="en-US" dirty="0"/>
              <a:t>방식과 </a:t>
            </a:r>
            <a:r>
              <a:rPr lang="ko-KR" altLang="en-US" dirty="0" err="1"/>
              <a:t>차압식과</a:t>
            </a:r>
            <a:r>
              <a:rPr lang="ko-KR" altLang="en-US" dirty="0"/>
              <a:t> 같은 비교 체적을 사용하는 </a:t>
            </a:r>
            <a:r>
              <a:rPr altLang="ko-KR" dirty="0"/>
              <a:t>Differential Mass </a:t>
            </a:r>
            <a:r>
              <a:rPr lang="en-US" altLang="ko-KR" dirty="0"/>
              <a:t>F</a:t>
            </a:r>
            <a:r>
              <a:rPr altLang="ko-KR" dirty="0"/>
              <a:t>low</a:t>
            </a:r>
            <a:r>
              <a:rPr lang="ko-KR" altLang="en-US" dirty="0"/>
              <a:t>방식이 있음</a:t>
            </a:r>
            <a:r>
              <a:rPr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M</a:t>
            </a:r>
            <a:r>
              <a:rPr altLang="ko-KR" dirty="0"/>
              <a:t>ass </a:t>
            </a:r>
            <a:r>
              <a:rPr lang="en-US" altLang="ko-KR" dirty="0"/>
              <a:t>F</a:t>
            </a:r>
            <a:r>
              <a:rPr altLang="ko-KR" dirty="0"/>
              <a:t>low</a:t>
            </a:r>
            <a:r>
              <a:rPr lang="ko-KR" altLang="en-US" dirty="0"/>
              <a:t>센서를 사용하므로</a:t>
            </a:r>
            <a:r>
              <a:rPr altLang="ko-KR" dirty="0"/>
              <a:t>, </a:t>
            </a:r>
            <a:r>
              <a:rPr lang="ko-KR" altLang="en-US" dirty="0"/>
              <a:t>별도의 </a:t>
            </a:r>
            <a:r>
              <a:rPr lang="en-US" altLang="ko-KR" dirty="0"/>
              <a:t>C</a:t>
            </a:r>
            <a:r>
              <a:rPr altLang="ko-KR" dirty="0"/>
              <a:t>alibration</a:t>
            </a:r>
            <a:r>
              <a:rPr lang="ko-KR" altLang="en-US" dirty="0"/>
              <a:t>이 없음</a:t>
            </a:r>
            <a:r>
              <a:rPr altLang="ko-KR" dirty="0"/>
              <a:t>(</a:t>
            </a:r>
            <a:r>
              <a:rPr altLang="ko-KR" dirty="0" err="1"/>
              <a:t>offse</a:t>
            </a:r>
            <a:r>
              <a:rPr lang="ko-KR" altLang="en-US" dirty="0"/>
              <a:t>개념</a:t>
            </a:r>
            <a:r>
              <a:rPr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측정 종료 시 </a:t>
            </a:r>
            <a:r>
              <a:rPr lang="en-US" altLang="ko-KR" dirty="0"/>
              <a:t>F</a:t>
            </a:r>
            <a:r>
              <a:rPr altLang="ko-KR" dirty="0"/>
              <a:t>low</a:t>
            </a:r>
            <a:r>
              <a:rPr lang="ko-KR" altLang="en-US" dirty="0"/>
              <a:t>값을 사용</a:t>
            </a:r>
            <a:endParaRPr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온도 영향이 심한 제품이나 생산 환경에서도 좋은 결과 값을 도출 함</a:t>
            </a:r>
            <a:r>
              <a:rPr altLang="ko-KR" dirty="0"/>
              <a:t>.</a:t>
            </a: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849688" y="4568003"/>
            <a:ext cx="4038600" cy="1560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73488" y="1556792"/>
            <a:ext cx="4419600" cy="270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05906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64" y="122982"/>
            <a:ext cx="9577064" cy="4914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Mass Flow </a:t>
            </a:r>
            <a:r>
              <a:rPr lang="ko-KR" altLang="en-US" sz="4000" dirty="0">
                <a:solidFill>
                  <a:schemeClr val="bg1"/>
                </a:solidFill>
              </a:rPr>
              <a:t>방식에서</a:t>
            </a:r>
            <a:r>
              <a:rPr lang="en-US" altLang="ko-KR" sz="4000" dirty="0">
                <a:solidFill>
                  <a:schemeClr val="bg1"/>
                </a:solidFill>
              </a:rPr>
              <a:t> </a:t>
            </a:r>
            <a:r>
              <a:rPr lang="ko-KR" altLang="en-US" sz="4000" dirty="0">
                <a:solidFill>
                  <a:schemeClr val="bg1"/>
                </a:solidFill>
              </a:rPr>
              <a:t>압력 곡선 및 </a:t>
            </a:r>
            <a:r>
              <a:rPr lang="en-US" altLang="ko-KR" sz="4000" dirty="0">
                <a:solidFill>
                  <a:schemeClr val="bg1"/>
                </a:solidFill>
              </a:rPr>
              <a:t>Flow</a:t>
            </a:r>
            <a:r>
              <a:rPr lang="ko-KR" altLang="en-US" sz="4000" dirty="0">
                <a:solidFill>
                  <a:schemeClr val="bg1"/>
                </a:solidFill>
              </a:rPr>
              <a:t> 곡선</a:t>
            </a:r>
            <a:endParaRPr lang="en-US" altLang="ko-KR" sz="2167" dirty="0">
              <a:ln>
                <a:solidFill>
                  <a:schemeClr val="accent1"/>
                </a:solidFill>
              </a:ln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9" name="내용 개체 틀 29"/>
          <p:cNvSpPr>
            <a:spLocks noGrp="1"/>
          </p:cNvSpPr>
          <p:nvPr>
            <p:ph idx="1"/>
          </p:nvPr>
        </p:nvSpPr>
        <p:spPr>
          <a:xfrm>
            <a:off x="5945832" y="2044477"/>
            <a:ext cx="3111624" cy="3760787"/>
          </a:xfrm>
        </p:spPr>
        <p:txBody>
          <a:bodyPr rtlCol="0">
            <a:normAutofit fontScale="55000" lnSpcReduction="20000"/>
          </a:bodyPr>
          <a:lstStyle/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en-US" altLang="ko-KR" dirty="0"/>
              <a:t>Flow</a:t>
            </a:r>
            <a:r>
              <a:rPr lang="ko-KR" altLang="en-US" dirty="0"/>
              <a:t>를 직접 측정하는 방식으로</a:t>
            </a:r>
            <a:r>
              <a:rPr lang="en-US" altLang="ko-KR" dirty="0"/>
              <a:t> </a:t>
            </a:r>
            <a:r>
              <a:rPr lang="ko-KR" altLang="en-US" dirty="0"/>
              <a:t>별도의 안정화 구간이 없다</a:t>
            </a:r>
            <a:r>
              <a:rPr lang="en-US" altLang="ko-KR" dirty="0"/>
              <a:t>.</a:t>
            </a:r>
          </a:p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압력곡선과 </a:t>
            </a:r>
            <a:r>
              <a:rPr lang="en-US" altLang="ko-KR" dirty="0"/>
              <a:t>Flow</a:t>
            </a:r>
            <a:r>
              <a:rPr lang="ko-KR" altLang="en-US" dirty="0"/>
              <a:t> 곡선</a:t>
            </a:r>
            <a:r>
              <a:rPr lang="en-US" altLang="ko-KR" dirty="0"/>
              <a:t>, </a:t>
            </a:r>
            <a:r>
              <a:rPr lang="ko-KR" altLang="en-US" dirty="0"/>
              <a:t>두 개의 곡선이 존재한다</a:t>
            </a:r>
            <a:r>
              <a:rPr lang="en-US" altLang="ko-KR" dirty="0"/>
              <a:t>.</a:t>
            </a:r>
          </a:p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최종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Reading</a:t>
            </a:r>
            <a:r>
              <a:rPr lang="ko-KR" altLang="en-US" dirty="0"/>
              <a:t>값이 바로 </a:t>
            </a:r>
            <a:r>
              <a:rPr lang="ko-KR" altLang="en-US" dirty="0" err="1"/>
              <a:t>리크</a:t>
            </a:r>
            <a:r>
              <a:rPr lang="ko-KR" altLang="en-US" dirty="0"/>
              <a:t> 값으로 판정 된다</a:t>
            </a:r>
            <a:r>
              <a:rPr lang="en-US" altLang="ko-KR" dirty="0"/>
              <a:t>.</a:t>
            </a:r>
          </a:p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r>
              <a:rPr lang="ko-KR" altLang="en-US" dirty="0"/>
              <a:t>자동교정은 </a:t>
            </a:r>
            <a:r>
              <a:rPr lang="en-US" altLang="ko-KR" dirty="0"/>
              <a:t>Flow</a:t>
            </a:r>
            <a:r>
              <a:rPr lang="ko-KR" altLang="en-US" dirty="0"/>
              <a:t>의 </a:t>
            </a:r>
            <a:r>
              <a:rPr lang="en-US" altLang="ko-KR" dirty="0"/>
              <a:t>Offset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fontAlgn="auto">
              <a:lnSpc>
                <a:spcPct val="170000"/>
              </a:lnSpc>
              <a:spcAft>
                <a:spcPts val="0"/>
              </a:spcAft>
              <a:buClr>
                <a:schemeClr val="accent5"/>
              </a:buClr>
              <a:defRPr/>
            </a:pPr>
            <a:endParaRPr altLang="ko-KR" dirty="0"/>
          </a:p>
        </p:txBody>
      </p:sp>
      <p:grpSp>
        <p:nvGrpSpPr>
          <p:cNvPr id="30" name="그룹 27"/>
          <p:cNvGrpSpPr>
            <a:grpSpLocks/>
          </p:cNvGrpSpPr>
          <p:nvPr/>
        </p:nvGrpSpPr>
        <p:grpSpPr bwMode="auto">
          <a:xfrm>
            <a:off x="897583" y="2116731"/>
            <a:ext cx="5004735" cy="3646669"/>
            <a:chOff x="514312" y="2109790"/>
            <a:chExt cx="5004900" cy="2521736"/>
          </a:xfrm>
        </p:grpSpPr>
        <p:sp>
          <p:nvSpPr>
            <p:cNvPr id="31" name="직사각형 30"/>
            <p:cNvSpPr/>
            <p:nvPr/>
          </p:nvSpPr>
          <p:spPr>
            <a:xfrm>
              <a:off x="2362223" y="2738410"/>
              <a:ext cx="1866963" cy="1604961"/>
            </a:xfrm>
            <a:prstGeom prst="rect">
              <a:avLst/>
            </a:prstGeom>
            <a:blipFill>
              <a:blip r:embed="rId3" cstate="print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kumimoji="0" lang="ko-KR" altLang="en-US"/>
            </a:p>
          </p:txBody>
        </p:sp>
        <p:sp>
          <p:nvSpPr>
            <p:cNvPr id="32" name="Freeform 3"/>
            <p:cNvSpPr>
              <a:spLocks/>
            </p:cNvSpPr>
            <p:nvPr/>
          </p:nvSpPr>
          <p:spPr bwMode="auto">
            <a:xfrm>
              <a:off x="1054560" y="2390902"/>
              <a:ext cx="3904433" cy="1911011"/>
            </a:xfrm>
            <a:custGeom>
              <a:avLst/>
              <a:gdLst>
                <a:gd name="T0" fmla="*/ 0 w 4264"/>
                <a:gd name="T1" fmla="*/ 0 h 2087"/>
                <a:gd name="T2" fmla="*/ 0 w 4264"/>
                <a:gd name="T3" fmla="*/ 2147483647 h 2087"/>
                <a:gd name="T4" fmla="*/ 2147483647 w 4264"/>
                <a:gd name="T5" fmla="*/ 2147483647 h 2087"/>
                <a:gd name="T6" fmla="*/ 0 60000 65536"/>
                <a:gd name="T7" fmla="*/ 0 60000 65536"/>
                <a:gd name="T8" fmla="*/ 0 60000 65536"/>
                <a:gd name="T9" fmla="*/ 0 w 4264"/>
                <a:gd name="T10" fmla="*/ 0 h 2087"/>
                <a:gd name="T11" fmla="*/ 4264 w 4264"/>
                <a:gd name="T12" fmla="*/ 2087 h 20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64" h="2087">
                  <a:moveTo>
                    <a:pt x="0" y="0"/>
                  </a:moveTo>
                  <a:lnTo>
                    <a:pt x="0" y="2087"/>
                  </a:lnTo>
                  <a:lnTo>
                    <a:pt x="4264" y="2087"/>
                  </a:ln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33" name="Freeform 4"/>
            <p:cNvSpPr>
              <a:spLocks/>
            </p:cNvSpPr>
            <p:nvPr/>
          </p:nvSpPr>
          <p:spPr bwMode="auto">
            <a:xfrm>
              <a:off x="1054560" y="2633555"/>
              <a:ext cx="1239822" cy="1668358"/>
            </a:xfrm>
            <a:custGeom>
              <a:avLst/>
              <a:gdLst>
                <a:gd name="T0" fmla="*/ 0 w 1354"/>
                <a:gd name="T1" fmla="*/ 2147483647 h 1822"/>
                <a:gd name="T2" fmla="*/ 2147483647 w 1354"/>
                <a:gd name="T3" fmla="*/ 2147483647 h 1822"/>
                <a:gd name="T4" fmla="*/ 2147483647 w 1354"/>
                <a:gd name="T5" fmla="*/ 2147483647 h 1822"/>
                <a:gd name="T6" fmla="*/ 0 60000 65536"/>
                <a:gd name="T7" fmla="*/ 0 60000 65536"/>
                <a:gd name="T8" fmla="*/ 0 60000 65536"/>
                <a:gd name="T9" fmla="*/ 0 w 1354"/>
                <a:gd name="T10" fmla="*/ 0 h 1822"/>
                <a:gd name="T11" fmla="*/ 1354 w 1354"/>
                <a:gd name="T12" fmla="*/ 1822 h 18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4" h="1822">
                  <a:moveTo>
                    <a:pt x="0" y="1822"/>
                  </a:moveTo>
                  <a:cubicBezTo>
                    <a:pt x="50" y="1550"/>
                    <a:pt x="10" y="384"/>
                    <a:pt x="298" y="192"/>
                  </a:cubicBezTo>
                  <a:cubicBezTo>
                    <a:pt x="586" y="0"/>
                    <a:pt x="1134" y="107"/>
                    <a:pt x="1354" y="85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34" name="Freeform 6"/>
            <p:cNvSpPr>
              <a:spLocks/>
            </p:cNvSpPr>
            <p:nvPr/>
          </p:nvSpPr>
          <p:spPr bwMode="auto">
            <a:xfrm>
              <a:off x="2303539" y="2721460"/>
              <a:ext cx="1887461" cy="337883"/>
            </a:xfrm>
            <a:custGeom>
              <a:avLst/>
              <a:gdLst>
                <a:gd name="T0" fmla="*/ 0 w 2061"/>
                <a:gd name="T1" fmla="*/ 0 h 369"/>
                <a:gd name="T2" fmla="*/ 896567 w 2061"/>
                <a:gd name="T3" fmla="*/ 321401 h 369"/>
                <a:gd name="T4" fmla="*/ 1887461 w 2061"/>
                <a:gd name="T5" fmla="*/ 326895 h 369"/>
                <a:gd name="T6" fmla="*/ 0 60000 65536"/>
                <a:gd name="T7" fmla="*/ 0 60000 65536"/>
                <a:gd name="T8" fmla="*/ 0 60000 65536"/>
                <a:gd name="T9" fmla="*/ 0 w 2061"/>
                <a:gd name="T10" fmla="*/ 0 h 369"/>
                <a:gd name="T11" fmla="*/ 2061 w 2061"/>
                <a:gd name="T12" fmla="*/ 369 h 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1" h="369">
                  <a:moveTo>
                    <a:pt x="0" y="0"/>
                  </a:moveTo>
                  <a:cubicBezTo>
                    <a:pt x="326" y="289"/>
                    <a:pt x="716" y="333"/>
                    <a:pt x="979" y="351"/>
                  </a:cubicBezTo>
                  <a:cubicBezTo>
                    <a:pt x="1336" y="369"/>
                    <a:pt x="1517" y="360"/>
                    <a:pt x="2061" y="357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2300792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39" name="Line 9"/>
            <p:cNvSpPr>
              <a:spLocks noChangeShapeType="1"/>
            </p:cNvSpPr>
            <p:nvPr/>
          </p:nvSpPr>
          <p:spPr bwMode="auto">
            <a:xfrm>
              <a:off x="4253009" y="2474228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0" name="Line 10"/>
            <p:cNvSpPr>
              <a:spLocks noChangeShapeType="1"/>
            </p:cNvSpPr>
            <p:nvPr/>
          </p:nvSpPr>
          <p:spPr bwMode="auto">
            <a:xfrm>
              <a:off x="2376078" y="2471149"/>
              <a:ext cx="0" cy="1827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1" name="Text Box 11"/>
            <p:cNvSpPr txBox="1">
              <a:spLocks noChangeArrowheads="1"/>
            </p:cNvSpPr>
            <p:nvPr/>
          </p:nvSpPr>
          <p:spPr bwMode="auto">
            <a:xfrm>
              <a:off x="906220" y="2109790"/>
              <a:ext cx="681620" cy="31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압력 </a:t>
              </a:r>
              <a:r>
                <a:rPr kumimoji="0" lang="en-US" altLang="ko-KR" sz="1200" dirty="0">
                  <a:ea typeface="맑은 고딕" pitchFamily="50" charset="-127"/>
                </a:rPr>
                <a:t>&amp; </a:t>
              </a:r>
            </a:p>
            <a:p>
              <a:pPr latinLnBrk="0"/>
              <a:r>
                <a:rPr kumimoji="0" lang="ko-KR" altLang="en-US" sz="1200" dirty="0" err="1">
                  <a:ea typeface="맑은 고딕" pitchFamily="50" charset="-127"/>
                </a:rPr>
                <a:t>플로우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5026753" y="4211261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시간</a:t>
              </a:r>
            </a:p>
          </p:txBody>
        </p:sp>
        <p:sp>
          <p:nvSpPr>
            <p:cNvPr id="43" name="Text Box 13"/>
            <p:cNvSpPr txBox="1">
              <a:spLocks noChangeArrowheads="1"/>
            </p:cNvSpPr>
            <p:nvPr/>
          </p:nvSpPr>
          <p:spPr bwMode="auto">
            <a:xfrm>
              <a:off x="1220297" y="4426445"/>
              <a:ext cx="1151315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 err="1">
                  <a:ea typeface="맑은 고딕" pitchFamily="50" charset="-127"/>
                </a:rPr>
                <a:t>압력충진</a:t>
              </a:r>
              <a:r>
                <a:rPr kumimoji="0" lang="ko-KR" altLang="en-US" sz="1200" dirty="0">
                  <a:ea typeface="맑은 고딕" pitchFamily="50" charset="-127"/>
                </a:rPr>
                <a:t> 시간</a:t>
              </a:r>
            </a:p>
          </p:txBody>
        </p:sp>
        <p:sp>
          <p:nvSpPr>
            <p:cNvPr id="44" name="Text Box 15"/>
            <p:cNvSpPr txBox="1">
              <a:spLocks noChangeArrowheads="1"/>
            </p:cNvSpPr>
            <p:nvPr/>
          </p:nvSpPr>
          <p:spPr bwMode="auto">
            <a:xfrm>
              <a:off x="2438426" y="4439976"/>
              <a:ext cx="1752658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latinLnBrk="0"/>
              <a:r>
                <a:rPr kumimoji="0" lang="ko-KR" altLang="en-US" sz="1200" dirty="0">
                  <a:ea typeface="맑은 고딕" pitchFamily="50" charset="-127"/>
                </a:rPr>
                <a:t>테스트 시간</a:t>
              </a:r>
            </a:p>
          </p:txBody>
        </p:sp>
        <p:sp>
          <p:nvSpPr>
            <p:cNvPr id="45" name="Line 16"/>
            <p:cNvSpPr>
              <a:spLocks noChangeShapeType="1"/>
            </p:cNvSpPr>
            <p:nvPr/>
          </p:nvSpPr>
          <p:spPr bwMode="auto">
            <a:xfrm>
              <a:off x="1012439" y="2723291"/>
              <a:ext cx="32396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46" name="Text Box 17"/>
            <p:cNvSpPr txBox="1">
              <a:spLocks noChangeArrowheads="1"/>
            </p:cNvSpPr>
            <p:nvPr/>
          </p:nvSpPr>
          <p:spPr bwMode="auto">
            <a:xfrm>
              <a:off x="514312" y="2598760"/>
              <a:ext cx="689635" cy="31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테스트 </a:t>
              </a:r>
            </a:p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압력</a:t>
              </a:r>
            </a:p>
          </p:txBody>
        </p:sp>
        <p:sp>
          <p:nvSpPr>
            <p:cNvPr id="47" name="Text Box 18"/>
            <p:cNvSpPr txBox="1">
              <a:spLocks noChangeArrowheads="1"/>
            </p:cNvSpPr>
            <p:nvPr/>
          </p:nvSpPr>
          <p:spPr bwMode="auto">
            <a:xfrm>
              <a:off x="4335419" y="2964554"/>
              <a:ext cx="1116048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>
                  <a:ea typeface="맑은 고딕" pitchFamily="50" charset="-127"/>
                </a:rPr>
                <a:t>압력곡선</a:t>
              </a:r>
              <a:r>
                <a:rPr kumimoji="0" lang="en-US" altLang="ko-KR" sz="1200" dirty="0">
                  <a:ea typeface="맑은 고딕" pitchFamily="50" charset="-127"/>
                </a:rPr>
                <a:t>(</a:t>
              </a:r>
              <a:r>
                <a:rPr lang="en-US" altLang="ko-KR" sz="1200" dirty="0">
                  <a:ea typeface="맑은 고딕" pitchFamily="50" charset="-127"/>
                </a:rPr>
                <a:t>Psi)</a:t>
              </a:r>
              <a:endParaRPr kumimoji="0" lang="en-US" altLang="ko-KR" sz="1200" dirty="0">
                <a:ea typeface="맑은 고딕" pitchFamily="50" charset="-127"/>
              </a:endParaRPr>
            </a:p>
          </p:txBody>
        </p:sp>
        <p:sp>
          <p:nvSpPr>
            <p:cNvPr id="48" name="Text Box 20"/>
            <p:cNvSpPr txBox="1">
              <a:spLocks noChangeArrowheads="1"/>
            </p:cNvSpPr>
            <p:nvPr/>
          </p:nvSpPr>
          <p:spPr bwMode="auto">
            <a:xfrm>
              <a:off x="3810071" y="4018427"/>
              <a:ext cx="1595362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 err="1">
                  <a:ea typeface="맑은 고딕" pitchFamily="50" charset="-127"/>
                </a:rPr>
                <a:t>플로우</a:t>
              </a:r>
              <a:r>
                <a:rPr kumimoji="0" lang="ko-KR" altLang="en-US" sz="1200" dirty="0">
                  <a:ea typeface="맑은 고딕" pitchFamily="50" charset="-127"/>
                </a:rPr>
                <a:t> 곡선 </a:t>
              </a:r>
              <a:r>
                <a:rPr kumimoji="0" lang="en-US" altLang="ko-KR" sz="1200" dirty="0">
                  <a:ea typeface="맑은 고딕" pitchFamily="50" charset="-127"/>
                </a:rPr>
                <a:t>(SCCM)</a:t>
              </a:r>
              <a:endParaRPr kumimoji="0" lang="ko-KR" altLang="en-US" sz="1200" dirty="0">
                <a:ea typeface="맑은 고딕" pitchFamily="50" charset="-127"/>
              </a:endParaRPr>
            </a:p>
          </p:txBody>
        </p:sp>
        <p:sp>
          <p:nvSpPr>
            <p:cNvPr id="49" name="Text Box 29"/>
            <p:cNvSpPr txBox="1">
              <a:spLocks noChangeArrowheads="1"/>
            </p:cNvSpPr>
            <p:nvPr/>
          </p:nvSpPr>
          <p:spPr bwMode="auto">
            <a:xfrm>
              <a:off x="4380286" y="4426445"/>
              <a:ext cx="492459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>
                  <a:ea typeface="맑은 고딕" pitchFamily="50" charset="-127"/>
                </a:rPr>
                <a:t>배기</a:t>
              </a:r>
            </a:p>
          </p:txBody>
        </p:sp>
        <p:sp>
          <p:nvSpPr>
            <p:cNvPr id="50" name="Freeform 6"/>
            <p:cNvSpPr>
              <a:spLocks/>
            </p:cNvSpPr>
            <p:nvPr/>
          </p:nvSpPr>
          <p:spPr bwMode="auto">
            <a:xfrm>
              <a:off x="2840041" y="4238358"/>
              <a:ext cx="1257391" cy="97977"/>
            </a:xfrm>
            <a:custGeom>
              <a:avLst/>
              <a:gdLst>
                <a:gd name="T0" fmla="*/ 0 w 2061"/>
                <a:gd name="T1" fmla="*/ 0 h 369"/>
                <a:gd name="T2" fmla="*/ 896567 w 2061"/>
                <a:gd name="T3" fmla="*/ 321401 h 369"/>
                <a:gd name="T4" fmla="*/ 1887461 w 2061"/>
                <a:gd name="T5" fmla="*/ 326895 h 369"/>
                <a:gd name="T6" fmla="*/ 0 60000 65536"/>
                <a:gd name="T7" fmla="*/ 0 60000 65536"/>
                <a:gd name="T8" fmla="*/ 0 60000 65536"/>
                <a:gd name="T9" fmla="*/ 0 w 2061"/>
                <a:gd name="T10" fmla="*/ 0 h 369"/>
                <a:gd name="T11" fmla="*/ 2061 w 2061"/>
                <a:gd name="T12" fmla="*/ 369 h 369"/>
                <a:gd name="connsiteX0" fmla="*/ 0 w 2061"/>
                <a:gd name="connsiteY0" fmla="*/ 12 h 372"/>
                <a:gd name="connsiteX1" fmla="*/ 1229 w 2061"/>
                <a:gd name="connsiteY1" fmla="*/ 18 h 372"/>
                <a:gd name="connsiteX2" fmla="*/ 2061 w 2061"/>
                <a:gd name="connsiteY2" fmla="*/ 369 h 372"/>
                <a:gd name="connsiteX0" fmla="*/ 0 w 2061"/>
                <a:gd name="connsiteY0" fmla="*/ 0 h 357"/>
                <a:gd name="connsiteX1" fmla="*/ 2061 w 2061"/>
                <a:gd name="connsiteY1" fmla="*/ 357 h 357"/>
                <a:gd name="connsiteX0" fmla="*/ 0 w 2394"/>
                <a:gd name="connsiteY0" fmla="*/ 0 h 69"/>
                <a:gd name="connsiteX1" fmla="*/ 2394 w 2394"/>
                <a:gd name="connsiteY1" fmla="*/ 69 h 69"/>
                <a:gd name="connsiteX0" fmla="*/ 0 w 2394"/>
                <a:gd name="connsiteY0" fmla="*/ 0 h 117"/>
                <a:gd name="connsiteX1" fmla="*/ 2394 w 2394"/>
                <a:gd name="connsiteY1" fmla="*/ 69 h 117"/>
                <a:gd name="connsiteX0" fmla="*/ 0 w 2394"/>
                <a:gd name="connsiteY0" fmla="*/ 0 h 117"/>
                <a:gd name="connsiteX1" fmla="*/ 340 w 2394"/>
                <a:gd name="connsiteY1" fmla="*/ 0 h 117"/>
                <a:gd name="connsiteX2" fmla="*/ 2394 w 2394"/>
                <a:gd name="connsiteY2" fmla="*/ 69 h 117"/>
                <a:gd name="connsiteX0" fmla="*/ 76 w 2054"/>
                <a:gd name="connsiteY0" fmla="*/ 0 h 117"/>
                <a:gd name="connsiteX1" fmla="*/ 0 w 2054"/>
                <a:gd name="connsiteY1" fmla="*/ 0 h 117"/>
                <a:gd name="connsiteX2" fmla="*/ 2054 w 2054"/>
                <a:gd name="connsiteY2" fmla="*/ 69 h 117"/>
                <a:gd name="connsiteX0" fmla="*/ 0 w 2054"/>
                <a:gd name="connsiteY0" fmla="*/ 0 h 117"/>
                <a:gd name="connsiteX1" fmla="*/ 2054 w 2054"/>
                <a:gd name="connsiteY1" fmla="*/ 69 h 117"/>
                <a:gd name="connsiteX0" fmla="*/ 0 w 2054"/>
                <a:gd name="connsiteY0" fmla="*/ 0 h 117"/>
                <a:gd name="connsiteX1" fmla="*/ 2054 w 2054"/>
                <a:gd name="connsiteY1" fmla="*/ 69 h 117"/>
                <a:gd name="connsiteX0" fmla="*/ 0 w 2054"/>
                <a:gd name="connsiteY0" fmla="*/ 0 h 117"/>
                <a:gd name="connsiteX1" fmla="*/ 2054 w 2054"/>
                <a:gd name="connsiteY1" fmla="*/ 69 h 117"/>
                <a:gd name="connsiteX0" fmla="*/ 0 w 2054"/>
                <a:gd name="connsiteY0" fmla="*/ 0 h 117"/>
                <a:gd name="connsiteX1" fmla="*/ 681 w 2054"/>
                <a:gd name="connsiteY1" fmla="*/ 10 h 117"/>
                <a:gd name="connsiteX2" fmla="*/ 2054 w 2054"/>
                <a:gd name="connsiteY2" fmla="*/ 69 h 117"/>
                <a:gd name="connsiteX0" fmla="*/ 0 w 1373"/>
                <a:gd name="connsiteY0" fmla="*/ 0 h 107"/>
                <a:gd name="connsiteX1" fmla="*/ 1373 w 1373"/>
                <a:gd name="connsiteY1" fmla="*/ 59 h 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3" h="107">
                  <a:moveTo>
                    <a:pt x="0" y="0"/>
                  </a:moveTo>
                  <a:cubicBezTo>
                    <a:pt x="782" y="107"/>
                    <a:pt x="575" y="36"/>
                    <a:pt x="1373" y="59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  <a:prstDash val="sysDash"/>
              <a:miter lim="800000"/>
              <a:headEnd/>
              <a:tailEnd/>
            </a:ln>
          </p:spPr>
          <p:txBody>
            <a:bodyPr wrap="none"/>
            <a:lstStyle/>
            <a:p>
              <a:pPr latinLnBrk="0"/>
              <a:endParaRPr kumimoji="0" lang="ko-KR" altLang="en-US" sz="1200">
                <a:ea typeface="맑은 고딕" pitchFamily="50" charset="-127"/>
              </a:endParaRPr>
            </a:p>
          </p:txBody>
        </p:sp>
        <p:sp>
          <p:nvSpPr>
            <p:cNvPr id="51" name="Text Box 18"/>
            <p:cNvSpPr txBox="1">
              <a:spLocks noChangeArrowheads="1"/>
            </p:cNvSpPr>
            <p:nvPr/>
          </p:nvSpPr>
          <p:spPr bwMode="auto">
            <a:xfrm>
              <a:off x="2590829" y="2174150"/>
              <a:ext cx="1699560" cy="191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atinLnBrk="0"/>
              <a:r>
                <a:rPr kumimoji="0" lang="ko-KR" altLang="en-US" sz="1200" dirty="0" err="1">
                  <a:ea typeface="맑은 고딕" pitchFamily="50" charset="-127"/>
                </a:rPr>
                <a:t>플로우</a:t>
              </a:r>
              <a:r>
                <a:rPr kumimoji="0" lang="ko-KR" altLang="en-US" sz="1200" dirty="0">
                  <a:ea typeface="맑은 고딕" pitchFamily="50" charset="-127"/>
                </a:rPr>
                <a:t> 밸브 전환 구간</a:t>
              </a:r>
              <a:endParaRPr kumimoji="0" lang="en-US" altLang="ko-KR" sz="1200" dirty="0">
                <a:ea typeface="맑은 고딕" pitchFamily="50" charset="-127"/>
              </a:endParaRPr>
            </a:p>
          </p:txBody>
        </p:sp>
      </p:grpSp>
      <p:sp>
        <p:nvSpPr>
          <p:cNvPr id="52" name="Freeform 4"/>
          <p:cNvSpPr>
            <a:spLocks/>
          </p:cNvSpPr>
          <p:nvPr/>
        </p:nvSpPr>
        <p:spPr bwMode="auto">
          <a:xfrm>
            <a:off x="2648450" y="3938539"/>
            <a:ext cx="629963" cy="1397377"/>
          </a:xfrm>
          <a:custGeom>
            <a:avLst/>
            <a:gdLst>
              <a:gd name="T0" fmla="*/ 0 w 1354"/>
              <a:gd name="T1" fmla="*/ 2147483647 h 1822"/>
              <a:gd name="T2" fmla="*/ 2147483647 w 1354"/>
              <a:gd name="T3" fmla="*/ 2147483647 h 1822"/>
              <a:gd name="T4" fmla="*/ 2147483647 w 1354"/>
              <a:gd name="T5" fmla="*/ 2147483647 h 1822"/>
              <a:gd name="T6" fmla="*/ 0 60000 65536"/>
              <a:gd name="T7" fmla="*/ 0 60000 65536"/>
              <a:gd name="T8" fmla="*/ 0 60000 65536"/>
              <a:gd name="T9" fmla="*/ 0 w 1354"/>
              <a:gd name="T10" fmla="*/ 0 h 1822"/>
              <a:gd name="T11" fmla="*/ 1354 w 1354"/>
              <a:gd name="T12" fmla="*/ 1822 h 1822"/>
              <a:gd name="connsiteX0" fmla="*/ 0 w 1354"/>
              <a:gd name="connsiteY0" fmla="*/ 2618 h 2618"/>
              <a:gd name="connsiteX1" fmla="*/ 298 w 1354"/>
              <a:gd name="connsiteY1" fmla="*/ 192 h 2618"/>
              <a:gd name="connsiteX2" fmla="*/ 1354 w 1354"/>
              <a:gd name="connsiteY2" fmla="*/ 881 h 2618"/>
              <a:gd name="connsiteX0" fmla="*/ 0 w 1188"/>
              <a:gd name="connsiteY0" fmla="*/ 2469 h 2469"/>
              <a:gd name="connsiteX1" fmla="*/ 298 w 1188"/>
              <a:gd name="connsiteY1" fmla="*/ 43 h 2469"/>
              <a:gd name="connsiteX2" fmla="*/ 1188 w 1188"/>
              <a:gd name="connsiteY2" fmla="*/ 2210 h 2469"/>
              <a:gd name="connsiteX0" fmla="*/ 0 w 855"/>
              <a:gd name="connsiteY0" fmla="*/ 2469 h 2469"/>
              <a:gd name="connsiteX1" fmla="*/ 298 w 855"/>
              <a:gd name="connsiteY1" fmla="*/ 43 h 2469"/>
              <a:gd name="connsiteX2" fmla="*/ 855 w 855"/>
              <a:gd name="connsiteY2" fmla="*/ 2210 h 2469"/>
              <a:gd name="connsiteX0" fmla="*/ 0 w 855"/>
              <a:gd name="connsiteY0" fmla="*/ 2469 h 2469"/>
              <a:gd name="connsiteX1" fmla="*/ 298 w 855"/>
              <a:gd name="connsiteY1" fmla="*/ 43 h 2469"/>
              <a:gd name="connsiteX2" fmla="*/ 855 w 855"/>
              <a:gd name="connsiteY2" fmla="*/ 2210 h 2469"/>
              <a:gd name="connsiteX0" fmla="*/ 0 w 855"/>
              <a:gd name="connsiteY0" fmla="*/ 2469 h 2469"/>
              <a:gd name="connsiteX1" fmla="*/ 298 w 855"/>
              <a:gd name="connsiteY1" fmla="*/ 43 h 2469"/>
              <a:gd name="connsiteX2" fmla="*/ 855 w 855"/>
              <a:gd name="connsiteY2" fmla="*/ 2210 h 2469"/>
              <a:gd name="connsiteX0" fmla="*/ 0 w 1271"/>
              <a:gd name="connsiteY0" fmla="*/ 2469 h 2469"/>
              <a:gd name="connsiteX1" fmla="*/ 298 w 1271"/>
              <a:gd name="connsiteY1" fmla="*/ 43 h 2469"/>
              <a:gd name="connsiteX2" fmla="*/ 1271 w 1271"/>
              <a:gd name="connsiteY2" fmla="*/ 2210 h 2469"/>
              <a:gd name="connsiteX0" fmla="*/ 0 w 1271"/>
              <a:gd name="connsiteY0" fmla="*/ 2469 h 2469"/>
              <a:gd name="connsiteX1" fmla="*/ 298 w 1271"/>
              <a:gd name="connsiteY1" fmla="*/ 43 h 2469"/>
              <a:gd name="connsiteX2" fmla="*/ 1271 w 1271"/>
              <a:gd name="connsiteY2" fmla="*/ 2210 h 2469"/>
              <a:gd name="connsiteX0" fmla="*/ 0 w 1271"/>
              <a:gd name="connsiteY0" fmla="*/ 2128 h 2128"/>
              <a:gd name="connsiteX1" fmla="*/ 298 w 1271"/>
              <a:gd name="connsiteY1" fmla="*/ 43 h 2128"/>
              <a:gd name="connsiteX2" fmla="*/ 1271 w 1271"/>
              <a:gd name="connsiteY2" fmla="*/ 1869 h 2128"/>
              <a:gd name="connsiteX0" fmla="*/ 0 w 1271"/>
              <a:gd name="connsiteY0" fmla="*/ 2128 h 2128"/>
              <a:gd name="connsiteX1" fmla="*/ 298 w 1271"/>
              <a:gd name="connsiteY1" fmla="*/ 43 h 2128"/>
              <a:gd name="connsiteX2" fmla="*/ 1271 w 1271"/>
              <a:gd name="connsiteY2" fmla="*/ 1869 h 2128"/>
              <a:gd name="connsiteX0" fmla="*/ 372 w 1060"/>
              <a:gd name="connsiteY0" fmla="*/ 2128 h 2128"/>
              <a:gd name="connsiteX1" fmla="*/ 670 w 1060"/>
              <a:gd name="connsiteY1" fmla="*/ 43 h 2128"/>
              <a:gd name="connsiteX2" fmla="*/ 1060 w 1060"/>
              <a:gd name="connsiteY2" fmla="*/ 1869 h 2128"/>
              <a:gd name="connsiteX0" fmla="*/ 0 w 688"/>
              <a:gd name="connsiteY0" fmla="*/ 2128 h 2128"/>
              <a:gd name="connsiteX1" fmla="*/ 298 w 688"/>
              <a:gd name="connsiteY1" fmla="*/ 43 h 2128"/>
              <a:gd name="connsiteX2" fmla="*/ 688 w 688"/>
              <a:gd name="connsiteY2" fmla="*/ 1869 h 2128"/>
              <a:gd name="connsiteX0" fmla="*/ 0 w 688"/>
              <a:gd name="connsiteY0" fmla="*/ 2128 h 2128"/>
              <a:gd name="connsiteX1" fmla="*/ 132 w 688"/>
              <a:gd name="connsiteY1" fmla="*/ 43 h 2128"/>
              <a:gd name="connsiteX2" fmla="*/ 688 w 688"/>
              <a:gd name="connsiteY2" fmla="*/ 1869 h 2128"/>
              <a:gd name="connsiteX0" fmla="*/ 0 w 688"/>
              <a:gd name="connsiteY0" fmla="*/ 2128 h 2128"/>
              <a:gd name="connsiteX1" fmla="*/ 132 w 688"/>
              <a:gd name="connsiteY1" fmla="*/ 43 h 2128"/>
              <a:gd name="connsiteX2" fmla="*/ 688 w 688"/>
              <a:gd name="connsiteY2" fmla="*/ 1869 h 2128"/>
              <a:gd name="connsiteX0" fmla="*/ 0 w 688"/>
              <a:gd name="connsiteY0" fmla="*/ 2085 h 2085"/>
              <a:gd name="connsiteX1" fmla="*/ 132 w 688"/>
              <a:gd name="connsiteY1" fmla="*/ 0 h 2085"/>
              <a:gd name="connsiteX2" fmla="*/ 688 w 688"/>
              <a:gd name="connsiteY2" fmla="*/ 1826 h 2085"/>
              <a:gd name="connsiteX0" fmla="*/ 0 w 688"/>
              <a:gd name="connsiteY0" fmla="*/ 2085 h 2085"/>
              <a:gd name="connsiteX1" fmla="*/ 132 w 688"/>
              <a:gd name="connsiteY1" fmla="*/ 0 h 2085"/>
              <a:gd name="connsiteX2" fmla="*/ 688 w 688"/>
              <a:gd name="connsiteY2" fmla="*/ 1826 h 2085"/>
              <a:gd name="connsiteX0" fmla="*/ 0 w 688"/>
              <a:gd name="connsiteY0" fmla="*/ 2085 h 2085"/>
              <a:gd name="connsiteX1" fmla="*/ 132 w 688"/>
              <a:gd name="connsiteY1" fmla="*/ 0 h 2085"/>
              <a:gd name="connsiteX2" fmla="*/ 688 w 688"/>
              <a:gd name="connsiteY2" fmla="*/ 1826 h 2085"/>
              <a:gd name="connsiteX0" fmla="*/ 0 w 688"/>
              <a:gd name="connsiteY0" fmla="*/ 2085 h 2085"/>
              <a:gd name="connsiteX1" fmla="*/ 132 w 688"/>
              <a:gd name="connsiteY1" fmla="*/ 0 h 2085"/>
              <a:gd name="connsiteX2" fmla="*/ 688 w 688"/>
              <a:gd name="connsiteY2" fmla="*/ 1826 h 2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8" h="2085">
                <a:moveTo>
                  <a:pt x="0" y="2085"/>
                </a:moveTo>
                <a:cubicBezTo>
                  <a:pt x="50" y="1813"/>
                  <a:pt x="127" y="829"/>
                  <a:pt x="132" y="0"/>
                </a:cubicBezTo>
                <a:cubicBezTo>
                  <a:pt x="236" y="877"/>
                  <a:pt x="248" y="1745"/>
                  <a:pt x="688" y="1826"/>
                </a:cubicBezTo>
              </a:path>
            </a:pathLst>
          </a:custGeom>
          <a:noFill/>
          <a:ln w="57150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wrap="none"/>
          <a:lstStyle/>
          <a:p>
            <a:pPr latinLnBrk="0"/>
            <a:endParaRPr kumimoji="0" lang="ko-KR" altLang="en-US" sz="1200">
              <a:ea typeface="맑은 고딕" pitchFamily="50" charset="-127"/>
            </a:endParaRPr>
          </a:p>
        </p:txBody>
      </p:sp>
      <p:cxnSp>
        <p:nvCxnSpPr>
          <p:cNvPr id="53" name="직선 화살표 연결선 52"/>
          <p:cNvCxnSpPr>
            <a:stCxn id="51" idx="1"/>
            <a:endCxn id="40" idx="0"/>
          </p:cNvCxnSpPr>
          <p:nvPr/>
        </p:nvCxnSpPr>
        <p:spPr>
          <a:xfrm rot="10800000" flipV="1">
            <a:off x="2759288" y="2348302"/>
            <a:ext cx="214744" cy="2909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374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4232920" y="4365104"/>
            <a:ext cx="4870450" cy="577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ko-KR" sz="585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tx2">
                        <a:gamma/>
                        <a:shade val="72549"/>
                        <a:invGamma/>
                      </a:schemeClr>
                    </a:gs>
                  </a:gsLst>
                  <a:lin ang="5400000" scaled="1"/>
                </a:gradFill>
                <a:latin typeface="현대하모니 M" panose="02020603020101020101" pitchFamily="18" charset="-127"/>
                <a:ea typeface="현대하모니 M" panose="02020603020101020101" pitchFamily="18" charset="-127"/>
                <a:cs typeface="Verdana" panose="020B0604030504040204" pitchFamily="34" charset="0"/>
              </a:rPr>
              <a:t>Thank You !</a:t>
            </a:r>
            <a:endParaRPr lang="ko-KR" altLang="en-US" sz="585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tx2">
                      <a:gamma/>
                      <a:shade val="72549"/>
                      <a:invGamma/>
                    </a:schemeClr>
                  </a:gs>
                </a:gsLst>
                <a:lin ang="5400000" scaled="1"/>
              </a:gradFill>
              <a:latin typeface="현대하모니 M" panose="02020603020101020101" pitchFamily="18" charset="-127"/>
              <a:ea typeface="현대하모니 M" panose="02020603020101020101" pitchFamily="18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999252"/>
      </p:ext>
    </p:extLst>
  </p:cSld>
  <p:clrMapOvr>
    <a:masterClrMapping/>
  </p:clrMapOvr>
</p:sld>
</file>

<file path=ppt/theme/theme1.xml><?xml version="1.0" encoding="utf-8"?>
<a:theme xmlns:a="http://schemas.openxmlformats.org/drawingml/2006/main" name="195TGp_education_light_s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814</TotalTime>
  <Words>1789</Words>
  <Application>Microsoft Office PowerPoint</Application>
  <PresentationFormat>A4 용지(210x297mm)</PresentationFormat>
  <Paragraphs>443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굴림</vt:lpstr>
      <vt:lpstr>맑은 고딕</vt:lpstr>
      <vt:lpstr>현대하모니 M</vt:lpstr>
      <vt:lpstr>Arial</vt:lpstr>
      <vt:lpstr>Calibri</vt:lpstr>
      <vt:lpstr>Calibri Light</vt:lpstr>
      <vt:lpstr>Verdana</vt:lpstr>
      <vt:lpstr>Wingdings</vt:lpstr>
      <vt:lpstr>195TGp_education_light_s</vt:lpstr>
      <vt:lpstr>JSTI(제이에스티아이)</vt:lpstr>
      <vt:lpstr>주요 고객 현황</vt:lpstr>
      <vt:lpstr>분야별 Top10 고객사 현황(CTS Global)</vt:lpstr>
      <vt:lpstr>국내 주요 사용처 ( 자동차 )</vt:lpstr>
      <vt:lpstr>국내 주요 사용처 ( 자동차 )</vt:lpstr>
      <vt:lpstr>국내 주요 사용처( 전자 및 기타 )</vt:lpstr>
      <vt:lpstr>장비 소개</vt:lpstr>
      <vt:lpstr>Air Leak Tester / 공통 기술</vt:lpstr>
      <vt:lpstr>Sentinel I-28 </vt:lpstr>
      <vt:lpstr>Sentinel Blackbelt</vt:lpstr>
      <vt:lpstr>Sentinel Blackbelt Pro</vt:lpstr>
      <vt:lpstr>Sentinel C-28 WE</vt:lpstr>
      <vt:lpstr>Sentinel C-20 WE</vt:lpstr>
      <vt:lpstr>GM 맞춤 사양 장치</vt:lpstr>
      <vt:lpstr>기타 Accessory</vt:lpstr>
      <vt:lpstr>테스트 방식</vt:lpstr>
      <vt:lpstr>절대압 압력 감소 테스트(AP)</vt:lpstr>
      <vt:lpstr>절대압 압력 감소 테스트(AP) 압력 곡선</vt:lpstr>
      <vt:lpstr>차압 감소 테스트(DP)</vt:lpstr>
      <vt:lpstr>차압 감소 테스트(DP) 압력 곡선</vt:lpstr>
      <vt:lpstr>Mass Flow Leak Test</vt:lpstr>
      <vt:lpstr>Mass Flow 방식에서 압력 곡선 및 Flow 곡선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오경인</dc:creator>
  <cp:lastModifiedBy>정세형</cp:lastModifiedBy>
  <cp:revision>97</cp:revision>
  <cp:lastPrinted>2016-07-08T10:51:06Z</cp:lastPrinted>
  <dcterms:created xsi:type="dcterms:W3CDTF">2016-01-28T05:27:44Z</dcterms:created>
  <dcterms:modified xsi:type="dcterms:W3CDTF">2017-06-23T08:08:22Z</dcterms:modified>
</cp:coreProperties>
</file>